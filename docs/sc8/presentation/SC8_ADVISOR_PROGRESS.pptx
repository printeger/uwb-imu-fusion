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03_healthy.svg" ContentType="image/svg+xml"/>
  <Override PartName="/ppt/media/s04_vicon.svg" ContentType="image/svg+xml"/>
  <Override PartName="/ppt/media/s05_coverage.svg" ContentType="image/svg+xml"/>
  <Override PartName="/ppt/media/s06_gains.svg" ContentType="image/svg+xml"/>
  <Override PartName="/ppt/media/s07_fault_timeline.svg" ContentType="image/svg+xml"/>
  <Override PartName="/ppt/media/s08_horizontal.svg" ContentType="image/svg+xml"/>
  <Override PartName="/ppt/media/s09_availability.svg" ContentType="image/svg+xml"/>
  <Override PartName="/ppt/media/s09_vertical.svg" ContentType="image/svg+xml"/>
  <Override PartName="/ppt/media/s10_window.svg" ContentType="image/svg+xml"/>
  <Override PartName="/ppt/media/s11_latency.svg" ContentType="image/svg+xml"/>
  <Override PartName="/ppt/media/s12_ablation.svg" ContentType="image/svg+xml"/>
  <Override PartName="/ppt/media/s13_long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Follow the single estimator path and the two fault-monitor inputs into the hypothesis pool.</a:t>
            </a:r>
          </a:p>
          <a:p>
            <a:r>
              <a:t>• Proof proposal precedes commit; final HPL/VPL are bound to the actual commit receipt and tag center.</a:t>
            </a:r>
          </a:p>
          <a:p>
            <a:r>
              <a:t>• The boundary carries position, velocity, rotation, biases, historical faults and shared source/risk identity.</a:t>
            </a:r>
          </a:p>
          <a:p>
            <a:r>
              <a:t>• The risk horizon is not the 30-epoch explicit window; no second FGO or all-history resolve is required.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SUCCESS is a process exit status, not proof of complete input or output coverage.</a:t>
            </a:r>
          </a:p>
          <a:p>
            <a:r>
              <a:t>• Simulation is the only registered source with conditional raw qualification.</a:t>
            </a:r>
          </a:p>
          <a:p>
            <a:r>
              <a:t>• Real recordings use O-FDE-ENG / O-ENG-NOFDE; semi-synthetic labels concern the added fault only.</a:t>
            </a:r>
          </a:p>
          <a:p>
            <a:r>
              <a:t>• Own-Vicon calibration uses a disclosed segmented TEST-involved fit; SFUISE official rejection remains enabled.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All three fixed healthy seeds are shown, without seed selection or fitted alignment.</a:t>
            </a:r>
          </a:p>
          <a:p>
            <a:r>
              <a:t>• FULL and NOFDE coincide on the healthy source; SFUISE online and final are distinct views.</a:t>
            </a:r>
          </a:p>
          <a:p>
            <a:r>
              <a:t>• Final history excludes the support-invalid bootstrap prefix; it is neither causal nor a full batch optimum.</a:t>
            </a:r>
          </a:p>
          <a:p>
            <a:r>
              <a:t>• The approximate five-centimeter result is conditional on the registered simulation and initialization information.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Use R3 as an empirical example, not an independently calibrated blind test.</a:t>
            </a:r>
          </a:p>
          <a:p>
            <a:r>
              <a:t>• Its registered TEST begins at 16.678774643 seconds; FULL has no complete TEST trajectory.</a:t>
            </a:r>
          </a:p>
          <a:p>
            <a:r>
              <a:t>• Walk physical APE, ARE and RPE are unavailable despite saved numerical proxy distances.</a:t>
            </a:r>
          </a:p>
          <a:p>
            <a:r>
              <a:t>• STAR kilometer-scale divergence is retained in the frozen report, but the gyro input contract prevents intrinsic method ranking.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The denominator is each original GT TEST grid within IMU source bounds, not successful matches or commit attempts.</a:t>
            </a:r>
          </a:p>
          <a:p>
            <a:r>
              <a:t>• Walk percentages describe time coverage only; the physical reference is unresolved.</a:t>
            </a:r>
          </a:p>
          <a:p>
            <a:r>
              <a:t>• The R3 FULL TEST coverage is unavailable and must not be drawn as a zero bar.</a:t>
            </a:r>
          </a:p>
          <a:p>
            <a:r>
              <a:t>• Four of six engineering FULL runs hit the registered resource stop; all real raw PL remains unqualified.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Three independently registered seeds per fault class supply the matched ON/OFF gains.</a:t>
            </a:r>
          </a:p>
          <a:p>
            <a:r>
              <a:t>• UWB-only is not uniformly positive; accelerometer positioning gains accompany worse attitude.</a:t>
            </a:r>
          </a:p>
          <a:p>
            <a:r>
              <a:t>• Gyro-only has a large negative seed and negative mean position and attitude gains.</a:t>
            </a:r>
          </a:p>
          <a:p>
            <a:r>
              <a:t>• Joint-fault mean attitude gain hides per-seed variation; no significance claim is made from three seeds.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The title uses real isolation to mean actual native transactions; this example is T-SIM, not a real recording.</a:t>
            </a:r>
          </a:p>
          <a:p>
            <a:r>
              <a:t>• The exact stream is SC8-J, seed 20261020, 600 epochs.</a:t>
            </a:r>
          </a:p>
          <a:p>
            <a:r>
              <a:t>• The raw accel pulse is 20 m/s² for 500 ms and UWB bias is 2.25 m for three epochs.</a:t>
            </a:r>
          </a:p>
          <a:p>
            <a:r>
              <a:t>• Rejoined is a persistent state flag; episode success requires actual prior replacement, bridge and consecutive post-bridge rejoined commits.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The Stanford panels use actual histogram counts for the registered E01/E03 main cases.</a:t>
            </a:r>
          </a:p>
          <a:p>
            <a:r>
              <a:t>• Overall qualified receipt total includes other experiments and must not be confused with this figure denominator.</a:t>
            </a:r>
          </a:p>
          <a:p>
            <a:r>
              <a:t>• An HPL above HPE is coverage, whereas an HPL above HAL is unavailable at that alert limit.</a:t>
            </a:r>
          </a:p>
          <a:p>
            <a:r>
              <a:t>• The conditional theorem comes from the declared source event, not independence of these correlated observations.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Vertical bounds can exceed the chosen VAL even when VPE is small.</a:t>
            </a:r>
          </a:p>
          <a:p>
            <a:r>
              <a:t>• Healthy joint availability divides timely H/V-admissible receipts by all 600 planned epochs per seed.</a:t>
            </a:r>
          </a:p>
          <a:p>
            <a:r>
              <a:t>• Research 2/3 and 5/5 meter ALs are post-processing diagnostics and do not alter solver parameters.</a:t>
            </a:r>
          </a:p>
          <a:p>
            <a:r>
              <a:t>• No hardware safety requirement or real-data protection qualification is inferred.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Every plotted configuration ran 2100 epochs and the common scoring interval is 1101 through 2100.</a:t>
            </a:r>
          </a:p>
          <a:p>
            <a:r>
              <a:t>• Coupled LF=LI uses 30, 100, 300, 600 and 1000 actual UWB epochs; 1000 is 50 seconds.</a:t>
            </a:r>
          </a:p>
          <a:p>
            <a:r>
              <a:t>• The fixed LF=300 sweep uses LI=30, 100 and 300, reusing the shared 300/300 result.</a:t>
            </a:r>
          </a:p>
          <a:p>
            <a:r>
              <a:t>• The resource marker is a sampled RSS maximum, not the unknown between-sample peak; larger windows are intentionally allowed to miss real-time targets.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Core and sink nearest-rank P95 targets remain 40 and 50 milliseconds; timely spatial fraction must also exceed 95 percent.</a:t>
            </a:r>
          </a:p>
          <a:p>
            <a:r>
              <a:t>• The healthy seed20 main E01 profile and the E06 joint repeat have distinct run IDs.</a:t>
            </a:r>
          </a:p>
          <a:p>
            <a:r>
              <a:t>• The nominal-only two-millisecond path lacks the full integrity capability and is not a like-for-like speed claim.</a:t>
            </a:r>
          </a:p>
          <a:p>
            <a:r>
              <a:t>• All measurable slow and abort frames remain; censored suffixes have no imputed timing and no complete-stream throughput claim.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M means same committed center, A means full trajectory comparison and P means performance.</a:t>
            </a:r>
          </a:p>
          <a:p>
            <a:r>
              <a:t>• Disabling terminal support reverts to a valid conservative box.</a:t>
            </a:r>
          </a:p>
          <a:p>
            <a:r>
              <a:t>• The joint/sample0 ablation is a combined joint-plus-support reversion, not two independently isolated effects.</a:t>
            </a:r>
          </a:p>
          <a:p>
            <a:r>
              <a:t>• G2 disables dedicated numerical recovery and commits zero of eighty epochs; its measured abort cost is retained in the report.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Process SUCCESS does not imply the ten-thousand-epoch FULL plan completed.</a:t>
            </a:r>
          </a:p>
          <a:p>
            <a:r>
              <a:t>• The producer released the full schedule but queue delivery and actual commits ended early for FULL.</a:t>
            </a:r>
          </a:p>
          <a:p>
            <a:r>
              <a:t>• NOFDE continues to the final scheduled episode, but it implements a different fault-handling policy.</a:t>
            </a:r>
          </a:p>
          <a:p>
            <a:r>
              <a:t>• Slots grow with time despite a bounded active state window; there is no constant-memory or perpetual full-state observability claim.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The 77131 receipts span correlated scenarios and windows, rather than independent risk trials.</a:t>
            </a:r>
          </a:p>
          <a:p>
            <a:r>
              <a:t>• State estimation, integrity validity, deadline passage and application availability are distinct results.</a:t>
            </a:r>
          </a:p>
          <a:p>
            <a:r>
              <a:t>• Real calibration, engineering execution, historical export support and missing SFUISE state metrics remain explicit gaps.</a:t>
            </a:r>
          </a:p>
          <a:p>
            <a:r>
              <a:t>• Weak-UWB amplitude and S1/S2 bias studies were not registered and are not filled with older SC7 data.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Ask for a near-term publication scope rather than an abstract endorsement.</a:t>
            </a:r>
          </a:p>
          <a:p>
            <a:r>
              <a:t>• Identify an owner for independent extrinsics, clocks and held-out calibration data.</a:t>
            </a:r>
          </a:p>
          <a:p>
            <a:r>
              <a:t>• Choose whether state-recovery research or bounded engineering execution comes first.</a:t>
            </a:r>
          </a:p>
          <a:p>
            <a:r>
              <a:t>• Agree on application HAL, VAL, TTA, covered faults and failure action before the next protocol.</a:t>
            </a:r>
          </a:p>
          <a:p/>
          <a:p>
            <a:r>
              <a:t>Frozen solver: 61907ab417450d317e443e4ff10f2cce062deabe. Entry HEAD: fa5b3dc9ffe3c88492352491d79ba022f373bfb5. Result status: SC8_EVALUATED_WITH_EXECUTION_GAPS.</a:t>
            </a:r>
          </a:p>
          <a:p>
            <a:r>
              <a:t>Figure provenance: FIGURE_SOURCES.json; metric details: NUMERICAL_CLAIMS.json; slide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s03_healthy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s04_vicon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s05_coverage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s06_gains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s07_fault_timeline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s08_horizontal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s09_vertical.svg"/><Relationship Id="rId5" Type="http://schemas.openxmlformats.org/officeDocument/2006/relationships/image" Target="../media/image8.png"/><Relationship Id="rId6" Type="http://schemas.openxmlformats.org/officeDocument/2006/relationships/image" Target="../media/s09_availability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s10_window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s11_latency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s12_ablation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s13_long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The System Today: One FGO, Joint Fault Handling, Rolling Integrity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How are estimation, fault exclusion and protection connected in the live UWB–IMU system?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20 Hz UWB / 200 Hz IMU • default LF/LI = 30/30 epochs • committed tag-position PL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Raw measurements drive one incremental FGO and parallel fault monitors; the selector commits at most one native update. A rolling certificate carries state uncertainty, fault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consequences and source/risk identity across marginalization.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A coupled incremental estimator and rolling fault-aware position integrity layer goes beyond a per-epoch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UWB RAIM test.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Architecture; frozen solver 61907ab; conditional SIM / empirical REAL separated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1/15</a:t>
            </a:r>
          </a:p>
        </p:txBody>
      </p:sp>
      <p:sp>
        <p:nvSpPr>
          <p:cNvPr id="11" name="editable architecture node: Timestamped raw"/>
          <p:cNvSpPr/>
          <p:nvPr/>
        </p:nvSpPr>
        <p:spPr>
          <a:xfrm>
            <a:off x="502920" y="2011680"/>
            <a:ext cx="1481328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216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gram Timestamped raw"/>
          <p:cNvSpPr txBox="1"/>
          <p:nvPr/>
        </p:nvSpPr>
        <p:spPr>
          <a:xfrm>
            <a:off x="576072" y="2066544"/>
            <a:ext cx="1335024" cy="676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Timestamped raw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UWB + IMU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source IDs / noise</a:t>
            </a:r>
          </a:p>
        </p:txBody>
      </p:sp>
      <p:sp>
        <p:nvSpPr>
          <p:cNvPr id="13" name="editable architecture node: Existing discrete FGO"/>
          <p:cNvSpPr/>
          <p:nvPr/>
        </p:nvSpPr>
        <p:spPr>
          <a:xfrm>
            <a:off x="2194560" y="2011680"/>
            <a:ext cx="160020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216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gram Existing discrete FGO"/>
          <p:cNvSpPr txBox="1"/>
          <p:nvPr/>
        </p:nvSpPr>
        <p:spPr>
          <a:xfrm>
            <a:off x="2267712" y="2066544"/>
            <a:ext cx="1453896" cy="676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Existing discrete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FGO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pre-UWB prepare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IMU preintegration</a:t>
            </a:r>
          </a:p>
        </p:txBody>
      </p:sp>
      <p:sp>
        <p:nvSpPr>
          <p:cNvPr id="15" name="editable architecture node: Unified physical"/>
          <p:cNvSpPr/>
          <p:nvPr/>
        </p:nvSpPr>
        <p:spPr>
          <a:xfrm>
            <a:off x="4041648" y="2011680"/>
            <a:ext cx="150876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216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gram Unified physical"/>
          <p:cNvSpPr txBox="1"/>
          <p:nvPr/>
        </p:nvSpPr>
        <p:spPr>
          <a:xfrm>
            <a:off x="4114800" y="2066544"/>
            <a:ext cx="1362456" cy="676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Unified physical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fault hypothesis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pool</a:t>
            </a:r>
          </a:p>
        </p:txBody>
      </p:sp>
      <p:sp>
        <p:nvSpPr>
          <p:cNvPr id="17" name="editable architecture node: UWB/IMU FDE"/>
          <p:cNvSpPr/>
          <p:nvPr/>
        </p:nvSpPr>
        <p:spPr>
          <a:xfrm>
            <a:off x="5797296" y="2011680"/>
            <a:ext cx="1874519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216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gram UWB/IMU FDE"/>
          <p:cNvSpPr txBox="1"/>
          <p:nvPr/>
        </p:nvSpPr>
        <p:spPr>
          <a:xfrm>
            <a:off x="5870448" y="2066544"/>
            <a:ext cx="1728216" cy="676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UWB/IMU FDE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Candidate testing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exclude / bridge / repair</a:t>
            </a:r>
          </a:p>
        </p:txBody>
      </p:sp>
      <p:sp>
        <p:nvSpPr>
          <p:cNvPr id="19" name="editable architecture node: Single native commit"/>
          <p:cNvSpPr/>
          <p:nvPr/>
        </p:nvSpPr>
        <p:spPr>
          <a:xfrm>
            <a:off x="7927848" y="2011680"/>
            <a:ext cx="1719072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216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gram Single native commit"/>
          <p:cNvSpPr txBox="1"/>
          <p:nvPr/>
        </p:nvSpPr>
        <p:spPr>
          <a:xfrm>
            <a:off x="8001000" y="2066544"/>
            <a:ext cx="1572768" cy="676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Single native commit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iSAM2 actual tag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+ commit receipt</a:t>
            </a:r>
          </a:p>
        </p:txBody>
      </p:sp>
      <p:sp>
        <p:nvSpPr>
          <p:cNvPr id="21" name="editable architecture node: Fault-aware tag PL"/>
          <p:cNvSpPr/>
          <p:nvPr/>
        </p:nvSpPr>
        <p:spPr>
          <a:xfrm>
            <a:off x="9902952" y="2011680"/>
            <a:ext cx="1792224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216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gram Fault-aware tag PL"/>
          <p:cNvSpPr txBox="1"/>
          <p:nvPr/>
        </p:nvSpPr>
        <p:spPr>
          <a:xfrm>
            <a:off x="9976104" y="2066544"/>
            <a:ext cx="1645920" cy="676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Fault-aware tag PL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Raw set HPL / VPL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around committed tag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84248" y="2395728"/>
            <a:ext cx="210312" cy="0"/>
          </a:xfrm>
          <a:prstGeom prst="line">
            <a:avLst/>
          </a:prstGeom>
          <a:ln w="12700">
            <a:solidFill>
              <a:srgbClr val="85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94760" y="2395728"/>
            <a:ext cx="246888" cy="0"/>
          </a:xfrm>
          <a:prstGeom prst="line">
            <a:avLst/>
          </a:prstGeom>
          <a:ln w="12700">
            <a:solidFill>
              <a:srgbClr val="85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50408" y="2395728"/>
            <a:ext cx="246888" cy="0"/>
          </a:xfrm>
          <a:prstGeom prst="line">
            <a:avLst/>
          </a:prstGeom>
          <a:ln w="12700">
            <a:solidFill>
              <a:srgbClr val="85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71816" y="2395728"/>
            <a:ext cx="256032" cy="0"/>
          </a:xfrm>
          <a:prstGeom prst="line">
            <a:avLst/>
          </a:prstGeom>
          <a:ln w="12700">
            <a:solidFill>
              <a:srgbClr val="85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46920" y="2395728"/>
            <a:ext cx="256032" cy="0"/>
          </a:xfrm>
          <a:prstGeom prst="line">
            <a:avLst/>
          </a:prstGeom>
          <a:ln w="12700">
            <a:solidFill>
              <a:srgbClr val="85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ditable architecture node: UWB slope RAIM screen"/>
          <p:cNvSpPr/>
          <p:nvPr/>
        </p:nvSpPr>
        <p:spPr>
          <a:xfrm>
            <a:off x="2194560" y="2953512"/>
            <a:ext cx="21031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216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gram UWB slope RAIM screen"/>
          <p:cNvSpPr txBox="1"/>
          <p:nvPr/>
        </p:nvSpPr>
        <p:spPr>
          <a:xfrm>
            <a:off x="2267712" y="3008376"/>
            <a:ext cx="1956815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UWB slope RAIM screen</a:t>
            </a:r>
          </a:p>
        </p:txBody>
      </p:sp>
      <p:sp>
        <p:nvSpPr>
          <p:cNvPr id="30" name="editable architecture node: Raw IMU fault monitor"/>
          <p:cNvSpPr/>
          <p:nvPr/>
        </p:nvSpPr>
        <p:spPr>
          <a:xfrm>
            <a:off x="2194560" y="3538728"/>
            <a:ext cx="21031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216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gram Raw IMU fault monitor"/>
          <p:cNvSpPr txBox="1"/>
          <p:nvPr/>
        </p:nvSpPr>
        <p:spPr>
          <a:xfrm>
            <a:off x="2267712" y="3593592"/>
            <a:ext cx="1956815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Raw IMU fault monitor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43584" y="2779776"/>
            <a:ext cx="0" cy="402336"/>
          </a:xfrm>
          <a:prstGeom prst="line">
            <a:avLst/>
          </a:prstGeom>
          <a:ln w="12700">
            <a:solidFill>
              <a:srgbClr val="85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43584" y="3182112"/>
            <a:ext cx="950976" cy="0"/>
          </a:xfrm>
          <a:prstGeom prst="line">
            <a:avLst/>
          </a:prstGeom>
          <a:ln w="12700">
            <a:solidFill>
              <a:srgbClr val="85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43584" y="3182112"/>
            <a:ext cx="0" cy="576072"/>
          </a:xfrm>
          <a:prstGeom prst="line">
            <a:avLst/>
          </a:prstGeom>
          <a:ln w="12700">
            <a:solidFill>
              <a:srgbClr val="85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243584" y="3758184"/>
            <a:ext cx="950976" cy="0"/>
          </a:xfrm>
          <a:prstGeom prst="line">
            <a:avLst/>
          </a:prstGeom>
          <a:ln w="12700">
            <a:solidFill>
              <a:srgbClr val="85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297680" y="2779776"/>
            <a:ext cx="475488" cy="393192"/>
          </a:xfrm>
          <a:prstGeom prst="line">
            <a:avLst/>
          </a:prstGeom>
          <a:ln w="12700">
            <a:solidFill>
              <a:srgbClr val="85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297680" y="2779776"/>
            <a:ext cx="914400" cy="978408"/>
          </a:xfrm>
          <a:prstGeom prst="line">
            <a:avLst/>
          </a:prstGeom>
          <a:ln w="12700">
            <a:solidFill>
              <a:srgbClr val="85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ditable architecture node: Rolling certificate / boundary B_k"/>
          <p:cNvSpPr/>
          <p:nvPr/>
        </p:nvSpPr>
        <p:spPr>
          <a:xfrm>
            <a:off x="5650992" y="3090672"/>
            <a:ext cx="3995928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148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gram Rolling certificate / boundary B_k"/>
          <p:cNvSpPr txBox="1"/>
          <p:nvPr/>
        </p:nvSpPr>
        <p:spPr>
          <a:xfrm>
            <a:off x="5724144" y="3145536"/>
            <a:ext cx="3849624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8477"/>
                </a:solidFill>
                <a:latin typeface="Liberation Sans"/>
              </a:rPr>
              <a:t>Rolling certificate / boundary B_k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8477"/>
                </a:solidFill>
                <a:latin typeface="Liberation Sans"/>
              </a:rPr>
              <a:t>p, v, R, ba, bg + historical fault carry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8477"/>
                </a:solidFill>
                <a:latin typeface="Liberation Sans"/>
              </a:rPr>
              <a:t>shared source / time-uniform risk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787384" y="2779776"/>
            <a:ext cx="0" cy="310896"/>
          </a:xfrm>
          <a:prstGeom prst="line">
            <a:avLst/>
          </a:prstGeom>
          <a:ln w="12700">
            <a:solidFill>
              <a:srgbClr val="1484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46920" y="3474720"/>
            <a:ext cx="137160" cy="0"/>
          </a:xfrm>
          <a:prstGeom prst="line">
            <a:avLst/>
          </a:prstGeom>
          <a:ln w="127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784080" y="2679192"/>
            <a:ext cx="0" cy="795528"/>
          </a:xfrm>
          <a:prstGeom prst="line">
            <a:avLst/>
          </a:prstGeom>
          <a:ln w="127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784080" y="2679192"/>
            <a:ext cx="118872" cy="0"/>
          </a:xfrm>
          <a:prstGeom prst="line">
            <a:avLst/>
          </a:prstGeom>
          <a:ln w="12700">
            <a:solidFill>
              <a:srgbClr val="1484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ditable architecture node: Risk / timeliness / AL"/>
          <p:cNvSpPr/>
          <p:nvPr/>
        </p:nvSpPr>
        <p:spPr>
          <a:xfrm>
            <a:off x="9902952" y="3090672"/>
            <a:ext cx="1792224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148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iagram Risk / timeliness / AL"/>
          <p:cNvSpPr txBox="1"/>
          <p:nvPr/>
        </p:nvSpPr>
        <p:spPr>
          <a:xfrm>
            <a:off x="9976104" y="3145536"/>
            <a:ext cx="16459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8477"/>
                </a:solidFill>
                <a:latin typeface="Liberation Sans"/>
              </a:rPr>
              <a:t>Risk / timeliness / AL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8477"/>
                </a:solidFill>
                <a:latin typeface="Liberation Sans"/>
              </a:rPr>
              <a:t>separate availability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8477"/>
                </a:solidFill>
                <a:latin typeface="Liberation Sans"/>
              </a:rPr>
              <a:t>gates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799064" y="2779776"/>
            <a:ext cx="0" cy="310896"/>
          </a:xfrm>
          <a:prstGeom prst="line">
            <a:avLst/>
          </a:prstGeom>
          <a:ln w="12700">
            <a:solidFill>
              <a:srgbClr val="14847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cope strip"/>
          <p:cNvSpPr txBox="1"/>
          <p:nvPr/>
        </p:nvSpPr>
        <p:spPr>
          <a:xfrm>
            <a:off x="502920" y="4096512"/>
            <a:ext cx="1115568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8477"/>
                </a:solidFill>
                <a:latin typeface="Liberation Sans"/>
              </a:rPr>
              <a:t>T-SIM: conditional raw integrity | T-REAL: engineering FDE only; raw unqualified</a:t>
            </a:r>
          </a:p>
        </p:txBody>
      </p:sp>
      <p:sp>
        <p:nvSpPr>
          <p:cNvPr id="48" name="editable architecture node: Retired raw epochs"/>
          <p:cNvSpPr/>
          <p:nvPr/>
        </p:nvSpPr>
        <p:spPr>
          <a:xfrm>
            <a:off x="502920" y="4498848"/>
            <a:ext cx="1874519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858B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iagram Retired raw epochs"/>
          <p:cNvSpPr txBox="1"/>
          <p:nvPr/>
        </p:nvSpPr>
        <p:spPr>
          <a:xfrm>
            <a:off x="576072" y="4553712"/>
            <a:ext cx="1728216" cy="2926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58B91"/>
                </a:solidFill>
                <a:latin typeface="Liberation Sans"/>
              </a:rPr>
              <a:t>Retired raw epochs</a:t>
            </a:r>
          </a:p>
        </p:txBody>
      </p:sp>
      <p:sp>
        <p:nvSpPr>
          <p:cNvPr id="50" name="editable architecture node: Certified boundary B_k"/>
          <p:cNvSpPr/>
          <p:nvPr/>
        </p:nvSpPr>
        <p:spPr>
          <a:xfrm>
            <a:off x="2651760" y="4498848"/>
            <a:ext cx="2157984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148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iagram Certified boundary B_k"/>
          <p:cNvSpPr txBox="1"/>
          <p:nvPr/>
        </p:nvSpPr>
        <p:spPr>
          <a:xfrm>
            <a:off x="2724912" y="4553712"/>
            <a:ext cx="2011679" cy="2926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8477"/>
                </a:solidFill>
                <a:latin typeface="Liberation Sans"/>
              </a:rPr>
              <a:t>Certified boundary B_k</a:t>
            </a:r>
          </a:p>
        </p:txBody>
      </p:sp>
      <p:sp>
        <p:nvSpPr>
          <p:cNvPr id="52" name="editable architecture node: Explicit active FGO / proof: 30 epochs"/>
          <p:cNvSpPr/>
          <p:nvPr/>
        </p:nvSpPr>
        <p:spPr>
          <a:xfrm>
            <a:off x="5074920" y="4498848"/>
            <a:ext cx="40416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216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iagram Explicit active FGO / proof: 30 epochs"/>
          <p:cNvSpPr txBox="1"/>
          <p:nvPr/>
        </p:nvSpPr>
        <p:spPr>
          <a:xfrm>
            <a:off x="5148072" y="4553712"/>
            <a:ext cx="3895344" cy="2926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Explicit active FGO / proof: 30 epochs</a:t>
            </a:r>
          </a:p>
        </p:txBody>
      </p:sp>
      <p:sp>
        <p:nvSpPr>
          <p:cNvPr id="54" name="editable architecture node: New epoch k+1"/>
          <p:cNvSpPr/>
          <p:nvPr/>
        </p:nvSpPr>
        <p:spPr>
          <a:xfrm>
            <a:off x="9390888" y="4498848"/>
            <a:ext cx="230428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216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iagram New epoch k+1"/>
          <p:cNvSpPr txBox="1"/>
          <p:nvPr/>
        </p:nvSpPr>
        <p:spPr>
          <a:xfrm>
            <a:off x="9464040" y="4553712"/>
            <a:ext cx="2157984" cy="2926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New epoch k+1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377440" y="4690872"/>
            <a:ext cx="274320" cy="0"/>
          </a:xfrm>
          <a:prstGeom prst="line">
            <a:avLst/>
          </a:prstGeom>
          <a:ln w="12700">
            <a:solidFill>
              <a:srgbClr val="85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809744" y="4690872"/>
            <a:ext cx="265176" cy="0"/>
          </a:xfrm>
          <a:prstGeom prst="line">
            <a:avLst/>
          </a:prstGeom>
          <a:ln w="12700">
            <a:solidFill>
              <a:srgbClr val="85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116568" y="4690872"/>
            <a:ext cx="274320" cy="0"/>
          </a:xfrm>
          <a:prstGeom prst="line">
            <a:avLst/>
          </a:prstGeom>
          <a:ln w="12700">
            <a:solidFill>
              <a:srgbClr val="85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lling timeline explanation"/>
          <p:cNvSpPr txBox="1"/>
          <p:nvPr/>
        </p:nvSpPr>
        <p:spPr>
          <a:xfrm>
            <a:off x="502920" y="5001768"/>
            <a:ext cx="11155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02C34"/>
                </a:solidFill>
                <a:latin typeface="Liberation Sans"/>
              </a:rPr>
              <a:t>B_k → B_(k+1): state/error, possible faults and source/risk survive; risk horizon ≠ 30 epochs. No second FGO or all-history re-solve.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E00 — What Was Actually Tested, and Which Comparisons Are Valid?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Which datasets, ground truths and algorithm modes support a defensible comparison?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143 registered runs: 130 SUCCESS | 12 RESOURCE_LIMIT | 1 FAIL; 159 attempts + 1 ROS control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Rows identify pre-registered real recordings, rather than six successful examples. The producer-to-estimator lanes keep conditional simulation integrity separate from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empirical real data and overlays.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Comparability comes before APE rankings: Walk reference and STAR input contracts remain open.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E00; frozen solver 61907ab; conditional SIM / empirical REAL separated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2/15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502920" y="2011680"/>
            <a:ext cx="33832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8477"/>
                </a:solidFill>
                <a:latin typeface="Liberation Sans"/>
              </a:rPr>
              <a:t>T-SIM</a:t>
            </a:r>
          </a:p>
        </p:txBody>
      </p:sp>
      <p:sp>
        <p:nvSpPr>
          <p:cNvPr id="12" name="evidence lane"/>
          <p:cNvSpPr txBox="1"/>
          <p:nvPr/>
        </p:nvSpPr>
        <p:spPr>
          <a:xfrm>
            <a:off x="502920" y="2304288"/>
            <a:ext cx="338328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Registered physical law → O-FULL / O-NOFDE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02920" y="2752344"/>
            <a:ext cx="338328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58B91"/>
                </a:solidFill>
                <a:latin typeface="Liberation Sans"/>
              </a:rPr>
              <a:t>→ Known truth; conditional PL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02920" y="3044952"/>
            <a:ext cx="33832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8477"/>
                </a:solidFill>
                <a:latin typeface="Liberation Sans"/>
              </a:rPr>
              <a:t>T-REAL</a:t>
            </a:r>
          </a:p>
        </p:txBody>
      </p:sp>
      <p:sp>
        <p:nvSpPr>
          <p:cNvPr id="15" name="evidence lane"/>
          <p:cNvSpPr txBox="1"/>
          <p:nvPr/>
        </p:nvSpPr>
        <p:spPr>
          <a:xfrm>
            <a:off x="502920" y="3337560"/>
            <a:ext cx="338328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Original recordings → O-FDE-ENG /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O-ENG-NOFDE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02920" y="3785616"/>
            <a:ext cx="338328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58B91"/>
                </a:solidFill>
                <a:latin typeface="Liberation Sans"/>
              </a:rPr>
              <a:t>→ CAL disclosure; raw unqualified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02920" y="4078224"/>
            <a:ext cx="33832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8477"/>
                </a:solidFill>
                <a:latin typeface="Liberation Sans"/>
              </a:rPr>
              <a:t>T-SEMI</a:t>
            </a:r>
          </a:p>
        </p:txBody>
      </p:sp>
      <p:sp>
        <p:nvSpPr>
          <p:cNvPr id="18" name="evidence lane"/>
          <p:cNvSpPr txBox="1"/>
          <p:nvPr/>
        </p:nvSpPr>
        <p:spPr>
          <a:xfrm>
            <a:off x="502920" y="4370832"/>
            <a:ext cx="338328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Real + fixed overlay → Same engineering paths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02920" y="4818888"/>
            <a:ext cx="3383280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58B91"/>
                </a:solidFill>
                <a:latin typeface="Liberation Sans"/>
              </a:rPr>
              <a:t>→ Injected label only; no raw PL</a:t>
            </a:r>
          </a:p>
        </p:txBody>
      </p:sp>
      <p:sp>
        <p:nvSpPr>
          <p:cNvPr id="20" name="table header"/>
          <p:cNvSpPr txBox="1"/>
          <p:nvPr/>
        </p:nvSpPr>
        <p:spPr>
          <a:xfrm>
            <a:off x="4123944" y="2016252"/>
            <a:ext cx="310896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ID</a:t>
            </a:r>
          </a:p>
        </p:txBody>
      </p:sp>
      <p:sp>
        <p:nvSpPr>
          <p:cNvPr id="21" name="table header"/>
          <p:cNvSpPr txBox="1"/>
          <p:nvPr/>
        </p:nvSpPr>
        <p:spPr>
          <a:xfrm>
            <a:off x="4507992" y="2016252"/>
            <a:ext cx="2350008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Recording</a:t>
            </a:r>
          </a:p>
        </p:txBody>
      </p:sp>
      <p:sp>
        <p:nvSpPr>
          <p:cNvPr id="22" name="table header"/>
          <p:cNvSpPr txBox="1"/>
          <p:nvPr/>
        </p:nvSpPr>
        <p:spPr>
          <a:xfrm>
            <a:off x="6931151" y="2016252"/>
            <a:ext cx="73152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Duration</a:t>
            </a:r>
          </a:p>
        </p:txBody>
      </p:sp>
      <p:sp>
        <p:nvSpPr>
          <p:cNvPr id="23" name="table header"/>
          <p:cNvSpPr txBox="1"/>
          <p:nvPr/>
        </p:nvSpPr>
        <p:spPr>
          <a:xfrm>
            <a:off x="7735823" y="2016252"/>
            <a:ext cx="3959352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Physical reference / boundary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87368" y="2423160"/>
            <a:ext cx="7644383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able row 1"/>
          <p:cNvSpPr txBox="1"/>
          <p:nvPr/>
        </p:nvSpPr>
        <p:spPr>
          <a:xfrm>
            <a:off x="4123944" y="2455164"/>
            <a:ext cx="310896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R1</a:t>
            </a:r>
          </a:p>
        </p:txBody>
      </p:sp>
      <p:sp>
        <p:nvSpPr>
          <p:cNvPr id="26" name="table row 1"/>
          <p:cNvSpPr txBox="1"/>
          <p:nvPr/>
        </p:nvSpPr>
        <p:spPr>
          <a:xfrm>
            <a:off x="4507992" y="2455164"/>
            <a:ext cx="2350008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ISAS-Walk2</a:t>
            </a:r>
          </a:p>
        </p:txBody>
      </p:sp>
      <p:sp>
        <p:nvSpPr>
          <p:cNvPr id="27" name="table row 1"/>
          <p:cNvSpPr txBox="1"/>
          <p:nvPr/>
        </p:nvSpPr>
        <p:spPr>
          <a:xfrm>
            <a:off x="6931151" y="2455164"/>
            <a:ext cx="731520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76.09 s</a:t>
            </a:r>
          </a:p>
        </p:txBody>
      </p:sp>
      <p:sp>
        <p:nvSpPr>
          <p:cNvPr id="28" name="table row 1"/>
          <p:cNvSpPr txBox="1"/>
          <p:nvPr/>
        </p:nvSpPr>
        <p:spPr>
          <a:xfrm>
            <a:off x="7735823" y="2455164"/>
            <a:ext cx="3959352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tracker→IMU/tag OPEN; proxy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87368" y="2825496"/>
            <a:ext cx="7644383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able row 2"/>
          <p:cNvSpPr txBox="1"/>
          <p:nvPr/>
        </p:nvSpPr>
        <p:spPr>
          <a:xfrm>
            <a:off x="4123944" y="2857500"/>
            <a:ext cx="310896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R2</a:t>
            </a:r>
          </a:p>
        </p:txBody>
      </p:sp>
      <p:sp>
        <p:nvSpPr>
          <p:cNvPr id="31" name="table row 2"/>
          <p:cNvSpPr txBox="1"/>
          <p:nvPr/>
        </p:nvSpPr>
        <p:spPr>
          <a:xfrm>
            <a:off x="4507992" y="2857500"/>
            <a:ext cx="2350008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ISAS-Walk3</a:t>
            </a:r>
          </a:p>
        </p:txBody>
      </p:sp>
      <p:sp>
        <p:nvSpPr>
          <p:cNvPr id="32" name="table row 2"/>
          <p:cNvSpPr txBox="1"/>
          <p:nvPr/>
        </p:nvSpPr>
        <p:spPr>
          <a:xfrm>
            <a:off x="6931151" y="2857500"/>
            <a:ext cx="731520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81.66 s</a:t>
            </a:r>
          </a:p>
        </p:txBody>
      </p:sp>
      <p:sp>
        <p:nvSpPr>
          <p:cNvPr id="33" name="table row 2"/>
          <p:cNvSpPr txBox="1"/>
          <p:nvPr/>
        </p:nvSpPr>
        <p:spPr>
          <a:xfrm>
            <a:off x="7735823" y="2857500"/>
            <a:ext cx="3959352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same reference OPEN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087368" y="3227832"/>
            <a:ext cx="7644383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able row 3"/>
          <p:cNvSpPr txBox="1"/>
          <p:nvPr/>
        </p:nvSpPr>
        <p:spPr>
          <a:xfrm>
            <a:off x="4123944" y="3259836"/>
            <a:ext cx="310896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R3</a:t>
            </a:r>
          </a:p>
        </p:txBody>
      </p:sp>
      <p:sp>
        <p:nvSpPr>
          <p:cNvPr id="36" name="table row 3"/>
          <p:cNvSpPr txBox="1"/>
          <p:nvPr/>
        </p:nvSpPr>
        <p:spPr>
          <a:xfrm>
            <a:off x="4507992" y="3259836"/>
            <a:ext cx="2350008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Own Vicon, no obstacle</a:t>
            </a:r>
          </a:p>
        </p:txBody>
      </p:sp>
      <p:sp>
        <p:nvSpPr>
          <p:cNvPr id="37" name="table row 3"/>
          <p:cNvSpPr txBox="1"/>
          <p:nvPr/>
        </p:nvSpPr>
        <p:spPr>
          <a:xfrm>
            <a:off x="6931151" y="3259836"/>
            <a:ext cx="731520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73.39 s</a:t>
            </a:r>
          </a:p>
        </p:txBody>
      </p:sp>
      <p:sp>
        <p:nvSpPr>
          <p:cNvPr id="38" name="table row 3"/>
          <p:cNvSpPr txBox="1"/>
          <p:nvPr/>
        </p:nvSpPr>
        <p:spPr>
          <a:xfrm>
            <a:off x="7735823" y="3259836"/>
            <a:ext cx="3959352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GT-assisted segmented CAL/TEST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087368" y="3630168"/>
            <a:ext cx="7644383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able row 4"/>
          <p:cNvSpPr txBox="1"/>
          <p:nvPr/>
        </p:nvSpPr>
        <p:spPr>
          <a:xfrm>
            <a:off x="4123944" y="3662172"/>
            <a:ext cx="310896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R4</a:t>
            </a:r>
          </a:p>
        </p:txBody>
      </p:sp>
      <p:sp>
        <p:nvSpPr>
          <p:cNvPr id="41" name="table row 4"/>
          <p:cNvSpPr txBox="1"/>
          <p:nvPr/>
        </p:nvSpPr>
        <p:spPr>
          <a:xfrm>
            <a:off x="4507992" y="3662172"/>
            <a:ext cx="2350008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Own Vicon, obstacle</a:t>
            </a:r>
          </a:p>
        </p:txBody>
      </p:sp>
      <p:sp>
        <p:nvSpPr>
          <p:cNvPr id="42" name="table row 4"/>
          <p:cNvSpPr txBox="1"/>
          <p:nvPr/>
        </p:nvSpPr>
        <p:spPr>
          <a:xfrm>
            <a:off x="6931151" y="3662172"/>
            <a:ext cx="731520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11.39 s</a:t>
            </a:r>
          </a:p>
        </p:txBody>
      </p:sp>
      <p:sp>
        <p:nvSpPr>
          <p:cNvPr id="43" name="table row 4"/>
          <p:cNvSpPr txBox="1"/>
          <p:nvPr/>
        </p:nvSpPr>
        <p:spPr>
          <a:xfrm>
            <a:off x="7735823" y="3662172"/>
            <a:ext cx="3959352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GT-assisted; short recording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87368" y="4032504"/>
            <a:ext cx="7644383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able row 5"/>
          <p:cNvSpPr txBox="1"/>
          <p:nvPr/>
        </p:nvSpPr>
        <p:spPr>
          <a:xfrm>
            <a:off x="4123944" y="4064508"/>
            <a:ext cx="310896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R5</a:t>
            </a:r>
          </a:p>
        </p:txBody>
      </p:sp>
      <p:sp>
        <p:nvSpPr>
          <p:cNvPr id="46" name="table row 5"/>
          <p:cNvSpPr txBox="1"/>
          <p:nvPr/>
        </p:nvSpPr>
        <p:spPr>
          <a:xfrm>
            <a:off x="4507992" y="4064508"/>
            <a:ext cx="2350008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STAR loop-3d-z_s3</a:t>
            </a:r>
          </a:p>
        </p:txBody>
      </p:sp>
      <p:sp>
        <p:nvSpPr>
          <p:cNvPr id="47" name="table row 5"/>
          <p:cNvSpPr txBox="1"/>
          <p:nvPr/>
        </p:nvSpPr>
        <p:spPr>
          <a:xfrm>
            <a:off x="6931151" y="4064508"/>
            <a:ext cx="731520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150.10 s</a:t>
            </a:r>
          </a:p>
        </p:txBody>
      </p:sp>
      <p:sp>
        <p:nvSpPr>
          <p:cNvPr id="48" name="table row 5"/>
          <p:cNvSpPr txBox="1"/>
          <p:nvPr/>
        </p:nvSpPr>
        <p:spPr>
          <a:xfrm>
            <a:off x="7735823" y="4064508"/>
            <a:ext cx="3959352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gyro/rig input convention OPEN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087368" y="4434840"/>
            <a:ext cx="7644383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able row 6"/>
          <p:cNvSpPr txBox="1"/>
          <p:nvPr/>
        </p:nvSpPr>
        <p:spPr>
          <a:xfrm>
            <a:off x="4123944" y="4466844"/>
            <a:ext cx="310896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R6</a:t>
            </a:r>
          </a:p>
        </p:txBody>
      </p:sp>
      <p:sp>
        <p:nvSpPr>
          <p:cNvPr id="51" name="table row 6"/>
          <p:cNvSpPr txBox="1"/>
          <p:nvPr/>
        </p:nvSpPr>
        <p:spPr>
          <a:xfrm>
            <a:off x="4507992" y="4466844"/>
            <a:ext cx="2350008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STAR loop-2d-fast_s3</a:t>
            </a:r>
          </a:p>
        </p:txBody>
      </p:sp>
      <p:sp>
        <p:nvSpPr>
          <p:cNvPr id="52" name="table row 6"/>
          <p:cNvSpPr txBox="1"/>
          <p:nvPr/>
        </p:nvSpPr>
        <p:spPr>
          <a:xfrm>
            <a:off x="6931151" y="4466844"/>
            <a:ext cx="731520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55.40 s</a:t>
            </a:r>
          </a:p>
        </p:txBody>
      </p:sp>
      <p:sp>
        <p:nvSpPr>
          <p:cNvPr id="53" name="table row 6"/>
          <p:cNvSpPr txBox="1"/>
          <p:nvPr/>
        </p:nvSpPr>
        <p:spPr>
          <a:xfrm>
            <a:off x="7735823" y="4466844"/>
            <a:ext cx="3959352" cy="3611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same input concern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087368" y="4837176"/>
            <a:ext cx="7644383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baseline scope"/>
          <p:cNvSpPr txBox="1"/>
          <p:nvPr/>
        </p:nvSpPr>
        <p:spPr>
          <a:xfrm>
            <a:off x="4123944" y="4965192"/>
            <a:ext cx="751636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58B91"/>
                </a:solidFill>
                <a:latin typeface="Liberation Sans"/>
              </a:rPr>
              <a:t>SFUISE: official rejection ON; ONLINE causal; FINAL same-run revised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E01 — Healthy Simulation: Good Accuracy Under the Declared Model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How accurately does the coupled pipeline localize without imposed faults?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O-FULL tag APE RMSE 0.0487176–0.0526469 m; default timing / timely-spatial profile passes 3/3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Each point is one independent seed; lower world-frame tag APE is better, without trajectory alignment. SFUISE uses sensor-only initialization, while ours receives an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independently noisy initial observation: this is not an optimizer-only comparison.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The healthy pipeline delivers approximately 5 cm tag RMSE in the registered simulated model.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E01; frozen solver 61907ab; T-SIM: conditional tag-position PL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3/15</a:t>
            </a:r>
          </a:p>
        </p:txBody>
      </p:sp>
      <p:pic>
        <p:nvPicPr>
          <p:cNvPr id="11" name="SC8 evidence s03_healthy" descr="s03_healthy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965960"/>
            <a:ext cx="6903720" cy="3246120"/>
          </a:xfrm>
          <a:prstGeom prst="rect">
            <a:avLst/>
          </a:prstGeom>
        </p:spPr>
      </p:pic>
      <p:sp>
        <p:nvSpPr>
          <p:cNvPr id="12" name="table header"/>
          <p:cNvSpPr txBox="1"/>
          <p:nvPr/>
        </p:nvSpPr>
        <p:spPr>
          <a:xfrm>
            <a:off x="7699248" y="2153412"/>
            <a:ext cx="21031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6A9B"/>
                </a:solidFill>
                <a:latin typeface="Liberation Sans"/>
              </a:rPr>
              <a:t>Full path / model</a:t>
            </a:r>
          </a:p>
        </p:txBody>
      </p:sp>
      <p:sp>
        <p:nvSpPr>
          <p:cNvPr id="13" name="table header"/>
          <p:cNvSpPr txBox="1"/>
          <p:nvPr/>
        </p:nvSpPr>
        <p:spPr>
          <a:xfrm>
            <a:off x="9875520" y="2153412"/>
            <a:ext cx="1819655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6A9B"/>
                </a:solidFill>
                <a:latin typeface="Liberation Sans"/>
              </a:rPr>
              <a:t>Observed result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62672" y="2487168"/>
            <a:ext cx="40690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able row 1"/>
          <p:cNvSpPr txBox="1"/>
          <p:nvPr/>
        </p:nvSpPr>
        <p:spPr>
          <a:xfrm>
            <a:off x="7699248" y="2519172"/>
            <a:ext cx="2103120" cy="4160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Tag APE RMSE (m)</a:t>
            </a:r>
          </a:p>
        </p:txBody>
      </p:sp>
      <p:sp>
        <p:nvSpPr>
          <p:cNvPr id="16" name="table row 1"/>
          <p:cNvSpPr txBox="1"/>
          <p:nvPr/>
        </p:nvSpPr>
        <p:spPr>
          <a:xfrm>
            <a:off x="9875520" y="2519172"/>
            <a:ext cx="1819655" cy="4160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0.0487176–0.0526469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62672" y="2944368"/>
            <a:ext cx="40690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able row 2"/>
          <p:cNvSpPr txBox="1"/>
          <p:nvPr/>
        </p:nvSpPr>
        <p:spPr>
          <a:xfrm>
            <a:off x="7699248" y="2976372"/>
            <a:ext cx="2103120" cy="4160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Body ARE RMSE</a:t>
            </a:r>
          </a:p>
        </p:txBody>
      </p:sp>
      <p:sp>
        <p:nvSpPr>
          <p:cNvPr id="19" name="table row 2"/>
          <p:cNvSpPr txBox="1"/>
          <p:nvPr/>
        </p:nvSpPr>
        <p:spPr>
          <a:xfrm>
            <a:off x="9875520" y="2976372"/>
            <a:ext cx="1819655" cy="4160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0.0778–0.1454 rad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62672" y="3401568"/>
            <a:ext cx="40690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able row 3"/>
          <p:cNvSpPr txBox="1"/>
          <p:nvPr/>
        </p:nvSpPr>
        <p:spPr>
          <a:xfrm>
            <a:off x="7699248" y="3433572"/>
            <a:ext cx="2103120" cy="4160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Seed20 core / sink P95</a:t>
            </a:r>
          </a:p>
        </p:txBody>
      </p:sp>
      <p:sp>
        <p:nvSpPr>
          <p:cNvPr id="22" name="table row 3"/>
          <p:cNvSpPr txBox="1"/>
          <p:nvPr/>
        </p:nvSpPr>
        <p:spPr>
          <a:xfrm>
            <a:off x="9875520" y="3433572"/>
            <a:ext cx="1819655" cy="4160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23.73 / 23.89 ms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62672" y="3858768"/>
            <a:ext cx="40690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able row 4"/>
          <p:cNvSpPr txBox="1"/>
          <p:nvPr/>
        </p:nvSpPr>
        <p:spPr>
          <a:xfrm>
            <a:off x="7699248" y="3890772"/>
            <a:ext cx="2103120" cy="4160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Study limits</a:t>
            </a:r>
          </a:p>
        </p:txBody>
      </p:sp>
      <p:sp>
        <p:nvSpPr>
          <p:cNvPr id="25" name="table row 4"/>
          <p:cNvSpPr txBox="1"/>
          <p:nvPr/>
        </p:nvSpPr>
        <p:spPr>
          <a:xfrm>
            <a:off x="9875520" y="3890772"/>
            <a:ext cx="1819655" cy="4160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40 / 50 ms; timely ≥95%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62672" y="4315968"/>
            <a:ext cx="40690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healthy support"/>
          <p:cNvSpPr txBox="1"/>
          <p:nvPr/>
        </p:nvSpPr>
        <p:spPr>
          <a:xfrm>
            <a:off x="7699248" y="4480560"/>
            <a:ext cx="393192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Per-run output-stamp scoring.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FULL / NOFDE: 600 states each.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SFUISE: 300 online; 298 valid final.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Final history is not an online gain.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E02 — Real-Data Validation Is Currently an Interface Problem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Which real-data comparisons can we physically interpret?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Walk physical APE / ARE / RPE = NA; STAR input validation OPEN; own Vicon is GT-assisted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Traces show the frozen own-Vicon TEST output and height reference, with its GT-assisted calibration disclosed. The matrix separates physically unresolved Walk references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and STAR input conventions from conditional empirical scoring.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Apparent algorithm failures cannot yet be separated from missing physical frame and timing validation.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E02; frozen solver 61907ab; T-REAL: empirical, raw unqualified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4/15</a:t>
            </a:r>
          </a:p>
        </p:txBody>
      </p:sp>
      <p:pic>
        <p:nvPicPr>
          <p:cNvPr id="11" name="SC8 evidence s04_vicon" descr="s04_vicon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965960"/>
            <a:ext cx="6858000" cy="3246120"/>
          </a:xfrm>
          <a:prstGeom prst="rect">
            <a:avLst/>
          </a:prstGeom>
        </p:spPr>
      </p:pic>
      <p:sp>
        <p:nvSpPr>
          <p:cNvPr id="12" name="table header"/>
          <p:cNvSpPr txBox="1"/>
          <p:nvPr/>
        </p:nvSpPr>
        <p:spPr>
          <a:xfrm>
            <a:off x="7671815" y="2071116"/>
            <a:ext cx="841248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6A9B"/>
                </a:solidFill>
                <a:latin typeface="Liberation Sans"/>
              </a:rPr>
              <a:t>Family</a:t>
            </a:r>
          </a:p>
        </p:txBody>
      </p:sp>
      <p:sp>
        <p:nvSpPr>
          <p:cNvPr id="13" name="table header"/>
          <p:cNvSpPr txBox="1"/>
          <p:nvPr/>
        </p:nvSpPr>
        <p:spPr>
          <a:xfrm>
            <a:off x="8586215" y="2071116"/>
            <a:ext cx="1444751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6A9B"/>
                </a:solidFill>
                <a:latin typeface="Liberation Sans"/>
              </a:rPr>
              <a:t>Usable evidence</a:t>
            </a:r>
          </a:p>
        </p:txBody>
      </p:sp>
      <p:sp>
        <p:nvSpPr>
          <p:cNvPr id="14" name="table header"/>
          <p:cNvSpPr txBox="1"/>
          <p:nvPr/>
        </p:nvSpPr>
        <p:spPr>
          <a:xfrm>
            <a:off x="10104119" y="2071116"/>
            <a:ext cx="1572768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6A9B"/>
                </a:solidFill>
                <a:latin typeface="Liberation Sans"/>
              </a:rPr>
              <a:t>Open boundary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2542032"/>
            <a:ext cx="4078223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able row 1"/>
          <p:cNvSpPr txBox="1"/>
          <p:nvPr/>
        </p:nvSpPr>
        <p:spPr>
          <a:xfrm>
            <a:off x="7671815" y="2574036"/>
            <a:ext cx="841248" cy="6812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Walk</a:t>
            </a:r>
          </a:p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R1/R2</a:t>
            </a:r>
          </a:p>
        </p:txBody>
      </p:sp>
      <p:sp>
        <p:nvSpPr>
          <p:cNvPr id="17" name="table row 1"/>
          <p:cNvSpPr txBox="1"/>
          <p:nvPr/>
        </p:nvSpPr>
        <p:spPr>
          <a:xfrm>
            <a:off x="8586215" y="2574036"/>
            <a:ext cx="1444751" cy="6812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Time coverage;</a:t>
            </a:r>
          </a:p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proxy diagnostic</a:t>
            </a:r>
          </a:p>
        </p:txBody>
      </p:sp>
      <p:sp>
        <p:nvSpPr>
          <p:cNvPr id="18" name="table row 1"/>
          <p:cNvSpPr txBox="1"/>
          <p:nvPr/>
        </p:nvSpPr>
        <p:spPr>
          <a:xfrm>
            <a:off x="10104119" y="2574036"/>
            <a:ext cx="1572768" cy="6812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Tracker–body/tag</a:t>
            </a:r>
          </a:p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reference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35240" y="3264408"/>
            <a:ext cx="4078223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able row 2"/>
          <p:cNvSpPr txBox="1"/>
          <p:nvPr/>
        </p:nvSpPr>
        <p:spPr>
          <a:xfrm>
            <a:off x="7671815" y="3296412"/>
            <a:ext cx="841248" cy="6812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Own</a:t>
            </a:r>
          </a:p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R3/R4</a:t>
            </a:r>
          </a:p>
        </p:txBody>
      </p:sp>
      <p:sp>
        <p:nvSpPr>
          <p:cNvPr id="21" name="table row 2"/>
          <p:cNvSpPr txBox="1"/>
          <p:nvPr/>
        </p:nvSpPr>
        <p:spPr>
          <a:xfrm>
            <a:off x="8586215" y="3296412"/>
            <a:ext cx="1444751" cy="6812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Empirical TEST;</a:t>
            </a:r>
          </a:p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CAL disclosed</a:t>
            </a:r>
          </a:p>
        </p:txBody>
      </p:sp>
      <p:sp>
        <p:nvSpPr>
          <p:cNvPr id="22" name="table row 2"/>
          <p:cNvSpPr txBox="1"/>
          <p:nvPr/>
        </p:nvSpPr>
        <p:spPr>
          <a:xfrm>
            <a:off x="10104119" y="3296412"/>
            <a:ext cx="1572768" cy="6812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TEST-involved fit; not</a:t>
            </a:r>
          </a:p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blind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35240" y="3986784"/>
            <a:ext cx="4078223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able row 3"/>
          <p:cNvSpPr txBox="1"/>
          <p:nvPr/>
        </p:nvSpPr>
        <p:spPr>
          <a:xfrm>
            <a:off x="7671815" y="4018788"/>
            <a:ext cx="841248" cy="6812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STAR</a:t>
            </a:r>
          </a:p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R5/R6</a:t>
            </a:r>
          </a:p>
        </p:txBody>
      </p:sp>
      <p:sp>
        <p:nvSpPr>
          <p:cNvPr id="25" name="table row 3"/>
          <p:cNvSpPr txBox="1"/>
          <p:nvPr/>
        </p:nvSpPr>
        <p:spPr>
          <a:xfrm>
            <a:off x="8586215" y="4018788"/>
            <a:ext cx="1444751" cy="6812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Frozen-interface</a:t>
            </a:r>
          </a:p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behavior</a:t>
            </a:r>
          </a:p>
        </p:txBody>
      </p:sp>
      <p:sp>
        <p:nvSpPr>
          <p:cNvPr id="26" name="table row 3"/>
          <p:cNvSpPr txBox="1"/>
          <p:nvPr/>
        </p:nvSpPr>
        <p:spPr>
          <a:xfrm>
            <a:off x="10104119" y="4018788"/>
            <a:ext cx="1572768" cy="6812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Gyro/rig convention;</a:t>
            </a:r>
          </a:p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no intrinsic ranking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35240" y="4709160"/>
            <a:ext cx="4078223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al limitations"/>
          <p:cNvSpPr txBox="1"/>
          <p:nvPr/>
        </p:nvSpPr>
        <p:spPr>
          <a:xfrm>
            <a:off x="7671816" y="4782312"/>
            <a:ext cx="3968496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R3 FULL: no complete TEST trajectory.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STAR R5 S-ONLINE APE: 15.85 km.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Input OPEN: no intrinsic-method ranking.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E02 — Real FDE Execution, Not Nominal Localization, Is the Bottleneck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Can the fault-handling pipeline sustain a complete real recording?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4/6 O-FDE-ENG real runs hit the resource limit; every real raw PL remains unqualified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Bars show coverage of the registered GT TEST grid, with interpolation limited to 100 ms; NA is not zero. This measures emitted-output continuity, not accuracy or raw integrity,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and Walk coverage is temporal only.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The main real-data blocker is FDE execution continuity, beyond nominal FGO data loading.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E02; frozen solver 61907ab; T-REAL: empirical, raw unqualified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5/15</a:t>
            </a:r>
          </a:p>
        </p:txBody>
      </p:sp>
      <p:pic>
        <p:nvPicPr>
          <p:cNvPr id="11" name="SC8 evidence s05_coverage" descr="s05_cover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011680"/>
            <a:ext cx="6949440" cy="3154680"/>
          </a:xfrm>
          <a:prstGeom prst="rect">
            <a:avLst/>
          </a:prstGeom>
        </p:spPr>
      </p:pic>
      <p:sp>
        <p:nvSpPr>
          <p:cNvPr id="12" name="table header"/>
          <p:cNvSpPr txBox="1"/>
          <p:nvPr/>
        </p:nvSpPr>
        <p:spPr>
          <a:xfrm>
            <a:off x="7699248" y="2080260"/>
            <a:ext cx="566928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GT grid</a:t>
            </a:r>
          </a:p>
        </p:txBody>
      </p:sp>
      <p:sp>
        <p:nvSpPr>
          <p:cNvPr id="13" name="table header"/>
          <p:cNvSpPr txBox="1"/>
          <p:nvPr/>
        </p:nvSpPr>
        <p:spPr>
          <a:xfrm>
            <a:off x="8339327" y="2080260"/>
            <a:ext cx="1609344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FDE covered/N</a:t>
            </a:r>
          </a:p>
        </p:txBody>
      </p:sp>
      <p:sp>
        <p:nvSpPr>
          <p:cNvPr id="14" name="table header"/>
          <p:cNvSpPr txBox="1"/>
          <p:nvPr/>
        </p:nvSpPr>
        <p:spPr>
          <a:xfrm>
            <a:off x="10021824" y="2080260"/>
            <a:ext cx="1673351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NoFDE covered/N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62672" y="2459736"/>
            <a:ext cx="40690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able row 1"/>
          <p:cNvSpPr txBox="1"/>
          <p:nvPr/>
        </p:nvSpPr>
        <p:spPr>
          <a:xfrm>
            <a:off x="7699248" y="2491740"/>
            <a:ext cx="566928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R1</a:t>
            </a:r>
          </a:p>
        </p:txBody>
      </p:sp>
      <p:sp>
        <p:nvSpPr>
          <p:cNvPr id="17" name="table row 1"/>
          <p:cNvSpPr txBox="1"/>
          <p:nvPr/>
        </p:nvSpPr>
        <p:spPr>
          <a:xfrm>
            <a:off x="8339327" y="2491740"/>
            <a:ext cx="1609344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204/3805</a:t>
            </a:r>
          </a:p>
        </p:txBody>
      </p:sp>
      <p:sp>
        <p:nvSpPr>
          <p:cNvPr id="18" name="table row 1"/>
          <p:cNvSpPr txBox="1"/>
          <p:nvPr/>
        </p:nvSpPr>
        <p:spPr>
          <a:xfrm>
            <a:off x="10021824" y="2491740"/>
            <a:ext cx="1673351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3295/3805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62672" y="2834640"/>
            <a:ext cx="40690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able row 2"/>
          <p:cNvSpPr txBox="1"/>
          <p:nvPr/>
        </p:nvSpPr>
        <p:spPr>
          <a:xfrm>
            <a:off x="7699248" y="2866644"/>
            <a:ext cx="566928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R2</a:t>
            </a:r>
          </a:p>
        </p:txBody>
      </p:sp>
      <p:sp>
        <p:nvSpPr>
          <p:cNvPr id="21" name="table row 2"/>
          <p:cNvSpPr txBox="1"/>
          <p:nvPr/>
        </p:nvSpPr>
        <p:spPr>
          <a:xfrm>
            <a:off x="8339327" y="2866644"/>
            <a:ext cx="1609344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236/4083</a:t>
            </a:r>
          </a:p>
        </p:txBody>
      </p:sp>
      <p:sp>
        <p:nvSpPr>
          <p:cNvPr id="22" name="table row 2"/>
          <p:cNvSpPr txBox="1"/>
          <p:nvPr/>
        </p:nvSpPr>
        <p:spPr>
          <a:xfrm>
            <a:off x="10021824" y="2866644"/>
            <a:ext cx="1673351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3483/4083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62672" y="3209544"/>
            <a:ext cx="40690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able row 3"/>
          <p:cNvSpPr txBox="1"/>
          <p:nvPr/>
        </p:nvSpPr>
        <p:spPr>
          <a:xfrm>
            <a:off x="7699248" y="3241548"/>
            <a:ext cx="566928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R3</a:t>
            </a:r>
          </a:p>
        </p:txBody>
      </p:sp>
      <p:sp>
        <p:nvSpPr>
          <p:cNvPr id="25" name="table row 3"/>
          <p:cNvSpPr txBox="1"/>
          <p:nvPr/>
        </p:nvSpPr>
        <p:spPr>
          <a:xfrm>
            <a:off x="8339327" y="3241548"/>
            <a:ext cx="1609344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NA</a:t>
            </a:r>
          </a:p>
        </p:txBody>
      </p:sp>
      <p:sp>
        <p:nvSpPr>
          <p:cNvPr id="26" name="table row 3"/>
          <p:cNvSpPr txBox="1"/>
          <p:nvPr/>
        </p:nvSpPr>
        <p:spPr>
          <a:xfrm>
            <a:off x="10021824" y="3241548"/>
            <a:ext cx="1673351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16602/16617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62672" y="3584448"/>
            <a:ext cx="40690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able row 4"/>
          <p:cNvSpPr txBox="1"/>
          <p:nvPr/>
        </p:nvSpPr>
        <p:spPr>
          <a:xfrm>
            <a:off x="7699248" y="3616452"/>
            <a:ext cx="566928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R4</a:t>
            </a:r>
          </a:p>
        </p:txBody>
      </p:sp>
      <p:sp>
        <p:nvSpPr>
          <p:cNvPr id="29" name="table row 4"/>
          <p:cNvSpPr txBox="1"/>
          <p:nvPr/>
        </p:nvSpPr>
        <p:spPr>
          <a:xfrm>
            <a:off x="8339327" y="3616452"/>
            <a:ext cx="1609344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1591/3344</a:t>
            </a:r>
          </a:p>
        </p:txBody>
      </p:sp>
      <p:sp>
        <p:nvSpPr>
          <p:cNvPr id="30" name="table row 4"/>
          <p:cNvSpPr txBox="1"/>
          <p:nvPr/>
        </p:nvSpPr>
        <p:spPr>
          <a:xfrm>
            <a:off x="10021824" y="3616452"/>
            <a:ext cx="1673351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2741/3344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662672" y="3959352"/>
            <a:ext cx="40690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able row 5"/>
          <p:cNvSpPr txBox="1"/>
          <p:nvPr/>
        </p:nvSpPr>
        <p:spPr>
          <a:xfrm>
            <a:off x="7699248" y="3991356"/>
            <a:ext cx="566928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R5</a:t>
            </a:r>
          </a:p>
        </p:txBody>
      </p:sp>
      <p:sp>
        <p:nvSpPr>
          <p:cNvPr id="33" name="table row 5"/>
          <p:cNvSpPr txBox="1"/>
          <p:nvPr/>
        </p:nvSpPr>
        <p:spPr>
          <a:xfrm>
            <a:off x="8339327" y="3991356"/>
            <a:ext cx="1609344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505/35342</a:t>
            </a:r>
          </a:p>
        </p:txBody>
      </p:sp>
      <p:sp>
        <p:nvSpPr>
          <p:cNvPr id="34" name="table row 5"/>
          <p:cNvSpPr txBox="1"/>
          <p:nvPr/>
        </p:nvSpPr>
        <p:spPr>
          <a:xfrm>
            <a:off x="10021824" y="3991356"/>
            <a:ext cx="1673351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34861/35342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662672" y="4334256"/>
            <a:ext cx="40690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able row 6"/>
          <p:cNvSpPr txBox="1"/>
          <p:nvPr/>
        </p:nvSpPr>
        <p:spPr>
          <a:xfrm>
            <a:off x="7699248" y="4366260"/>
            <a:ext cx="566928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R6</a:t>
            </a:r>
          </a:p>
        </p:txBody>
      </p:sp>
      <p:sp>
        <p:nvSpPr>
          <p:cNvPr id="37" name="table row 6"/>
          <p:cNvSpPr txBox="1"/>
          <p:nvPr/>
        </p:nvSpPr>
        <p:spPr>
          <a:xfrm>
            <a:off x="8339327" y="4366260"/>
            <a:ext cx="1609344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723/12993</a:t>
            </a:r>
          </a:p>
        </p:txBody>
      </p:sp>
      <p:sp>
        <p:nvSpPr>
          <p:cNvPr id="38" name="table row 6"/>
          <p:cNvSpPr txBox="1"/>
          <p:nvPr/>
        </p:nvSpPr>
        <p:spPr>
          <a:xfrm>
            <a:off x="10021824" y="4366260"/>
            <a:ext cx="1673351" cy="333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12701/12993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662672" y="4709160"/>
            <a:ext cx="40690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overage interpretation"/>
          <p:cNvSpPr txBox="1"/>
          <p:nvPr/>
        </p:nvSpPr>
        <p:spPr>
          <a:xfrm>
            <a:off x="7699248" y="4727448"/>
            <a:ext cx="3913632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Walk: temporal proxy grid only.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R3 FULL has no saved TEST output.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Rates differ from commit/attempt 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E03 — FDE Benefits Are Fault-Dependent, Not Uniformly Positive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Does FDE actually improve position and attitude accuracy?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OFF − ON: positive is improvement; negative is degradation; all three seeds remain visible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Each point is a matched seed; positive OFF−ON means FDE reduced RMSE, while negative values show degradation. Position improvement cannot cancel worsening body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attitude, particularly under accel or gyro faults.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Accel/joint positioning improves, but gyro-only accuracy and state recovery remain unresolved.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E03; frozen solver 61907ab; T-SIM: conditional tag-position PL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6/15</a:t>
            </a:r>
          </a:p>
        </p:txBody>
      </p:sp>
      <p:pic>
        <p:nvPicPr>
          <p:cNvPr id="11" name="SC8 evidence s06_gains" descr="s06_gains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011680"/>
            <a:ext cx="7406640" cy="3154680"/>
          </a:xfrm>
          <a:prstGeom prst="rect">
            <a:avLst/>
          </a:prstGeom>
        </p:spPr>
      </p:pic>
      <p:sp>
        <p:nvSpPr>
          <p:cNvPr id="12" name="table header"/>
          <p:cNvSpPr txBox="1"/>
          <p:nvPr/>
        </p:nvSpPr>
        <p:spPr>
          <a:xfrm>
            <a:off x="8156448" y="2153412"/>
            <a:ext cx="70408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6A9B"/>
                </a:solidFill>
                <a:latin typeface="Liberation Sans"/>
              </a:rPr>
              <a:t>Fault</a:t>
            </a:r>
          </a:p>
        </p:txBody>
      </p:sp>
      <p:sp>
        <p:nvSpPr>
          <p:cNvPr id="13" name="table header"/>
          <p:cNvSpPr txBox="1"/>
          <p:nvPr/>
        </p:nvSpPr>
        <p:spPr>
          <a:xfrm>
            <a:off x="8933688" y="2153412"/>
            <a:ext cx="12801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6A9B"/>
                </a:solidFill>
                <a:latin typeface="Liberation Sans"/>
              </a:rPr>
              <a:t>ΔAPE (m)</a:t>
            </a:r>
          </a:p>
        </p:txBody>
      </p:sp>
      <p:sp>
        <p:nvSpPr>
          <p:cNvPr id="14" name="table header"/>
          <p:cNvSpPr txBox="1"/>
          <p:nvPr/>
        </p:nvSpPr>
        <p:spPr>
          <a:xfrm>
            <a:off x="10287000" y="2153412"/>
            <a:ext cx="131673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6A9B"/>
                </a:solidFill>
                <a:latin typeface="Liberation Sans"/>
              </a:rPr>
              <a:t>ΔARE (rad)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19872" y="2487168"/>
            <a:ext cx="352044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able row 1"/>
          <p:cNvSpPr txBox="1"/>
          <p:nvPr/>
        </p:nvSpPr>
        <p:spPr>
          <a:xfrm>
            <a:off x="8156448" y="2519172"/>
            <a:ext cx="704088" cy="35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UWB</a:t>
            </a:r>
          </a:p>
        </p:txBody>
      </p:sp>
      <p:sp>
        <p:nvSpPr>
          <p:cNvPr id="17" name="table row 1"/>
          <p:cNvSpPr txBox="1"/>
          <p:nvPr/>
        </p:nvSpPr>
        <p:spPr>
          <a:xfrm>
            <a:off x="8933688" y="2519172"/>
            <a:ext cx="1280160" cy="35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-0.007908</a:t>
            </a:r>
          </a:p>
        </p:txBody>
      </p:sp>
      <p:sp>
        <p:nvSpPr>
          <p:cNvPr id="18" name="table row 1"/>
          <p:cNvSpPr txBox="1"/>
          <p:nvPr/>
        </p:nvSpPr>
        <p:spPr>
          <a:xfrm>
            <a:off x="10287000" y="2519172"/>
            <a:ext cx="1316736" cy="35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+0.05806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19872" y="2880360"/>
            <a:ext cx="352044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able row 2"/>
          <p:cNvSpPr txBox="1"/>
          <p:nvPr/>
        </p:nvSpPr>
        <p:spPr>
          <a:xfrm>
            <a:off x="8156448" y="2912364"/>
            <a:ext cx="704088" cy="35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Accel</a:t>
            </a:r>
          </a:p>
        </p:txBody>
      </p:sp>
      <p:sp>
        <p:nvSpPr>
          <p:cNvPr id="21" name="table row 2"/>
          <p:cNvSpPr txBox="1"/>
          <p:nvPr/>
        </p:nvSpPr>
        <p:spPr>
          <a:xfrm>
            <a:off x="8933688" y="2912364"/>
            <a:ext cx="1280160" cy="35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+0.092363</a:t>
            </a:r>
          </a:p>
        </p:txBody>
      </p:sp>
      <p:sp>
        <p:nvSpPr>
          <p:cNvPr id="22" name="table row 2"/>
          <p:cNvSpPr txBox="1"/>
          <p:nvPr/>
        </p:nvSpPr>
        <p:spPr>
          <a:xfrm>
            <a:off x="10287000" y="2912364"/>
            <a:ext cx="1316736" cy="35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-1.13562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19872" y="3273552"/>
            <a:ext cx="352044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able row 3"/>
          <p:cNvSpPr txBox="1"/>
          <p:nvPr/>
        </p:nvSpPr>
        <p:spPr>
          <a:xfrm>
            <a:off x="8156448" y="3305556"/>
            <a:ext cx="704088" cy="35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Gyro</a:t>
            </a:r>
          </a:p>
        </p:txBody>
      </p:sp>
      <p:sp>
        <p:nvSpPr>
          <p:cNvPr id="25" name="table row 3"/>
          <p:cNvSpPr txBox="1"/>
          <p:nvPr/>
        </p:nvSpPr>
        <p:spPr>
          <a:xfrm>
            <a:off x="8933688" y="3305556"/>
            <a:ext cx="1280160" cy="35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-0.067733</a:t>
            </a:r>
          </a:p>
        </p:txBody>
      </p:sp>
      <p:sp>
        <p:nvSpPr>
          <p:cNvPr id="26" name="table row 3"/>
          <p:cNvSpPr txBox="1"/>
          <p:nvPr/>
        </p:nvSpPr>
        <p:spPr>
          <a:xfrm>
            <a:off x="10287000" y="3305556"/>
            <a:ext cx="1316736" cy="35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-1.23141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19872" y="3666744"/>
            <a:ext cx="352044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able row 4"/>
          <p:cNvSpPr txBox="1"/>
          <p:nvPr/>
        </p:nvSpPr>
        <p:spPr>
          <a:xfrm>
            <a:off x="8156448" y="3698748"/>
            <a:ext cx="704088" cy="35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Joint</a:t>
            </a:r>
          </a:p>
        </p:txBody>
      </p:sp>
      <p:sp>
        <p:nvSpPr>
          <p:cNvPr id="29" name="table row 4"/>
          <p:cNvSpPr txBox="1"/>
          <p:nvPr/>
        </p:nvSpPr>
        <p:spPr>
          <a:xfrm>
            <a:off x="8933688" y="3698748"/>
            <a:ext cx="1280160" cy="35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+0.114792</a:t>
            </a:r>
          </a:p>
        </p:txBody>
      </p:sp>
      <p:sp>
        <p:nvSpPr>
          <p:cNvPr id="30" name="table row 4"/>
          <p:cNvSpPr txBox="1"/>
          <p:nvPr/>
        </p:nvSpPr>
        <p:spPr>
          <a:xfrm>
            <a:off x="10287000" y="3698748"/>
            <a:ext cx="1316736" cy="352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+0.20435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19872" y="4059935"/>
            <a:ext cx="352044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ault interpretation"/>
          <p:cNvSpPr txBox="1"/>
          <p:nvPr/>
        </p:nvSpPr>
        <p:spPr>
          <a:xfrm>
            <a:off x="8156448" y="4370832"/>
            <a:ext cx="3474720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Black ticks are seed means.</a:t>
            </a:r>
          </a:p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Accel: better position, worse attitude.</a:t>
            </a:r>
          </a:p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Gyro: both means deteriorate.</a:t>
            </a:r>
          </a:p>
          <a:p>
            <a:pPr>
              <a:lnSpc>
                <a:spcPts val="145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C34"/>
                </a:solidFill>
                <a:latin typeface="Liberation Sans"/>
              </a:rPr>
              <a:t>Joint: attitude gain varies by seed.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E03 — Real Isolation Can Still Be Followed by Estimation Drift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What happens before, during and after a detected joint fault?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T-SIM SC8-J / seed 20261020: actual prior repair + bridge + rejoined receipts; accuracy is separate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Bands mark source-level injections and receipt rows mark actual detection, isolation, prior repair and rejoined state. The APE axis is linear below 0.1 m and logarithmic above;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a successful transaction does not certify state-error recovery.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Post-FDE state consistency and recovery determine net accuracy; isolation alone is insufficient.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E03; frozen solver 61907ab; T-SIM: conditional tag-position PL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7/15</a:t>
            </a:r>
          </a:p>
        </p:txBody>
      </p:sp>
      <p:pic>
        <p:nvPicPr>
          <p:cNvPr id="11" name="SC8 evidence s07_fault_timeline" descr="s07_fault_timelin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938528"/>
            <a:ext cx="8138160" cy="3291840"/>
          </a:xfrm>
          <a:prstGeom prst="rect">
            <a:avLst/>
          </a:prstGeom>
        </p:spPr>
      </p:pic>
      <p:sp>
        <p:nvSpPr>
          <p:cNvPr id="12" name="table header"/>
          <p:cNvSpPr txBox="1"/>
          <p:nvPr/>
        </p:nvSpPr>
        <p:spPr>
          <a:xfrm>
            <a:off x="8887967" y="2107692"/>
            <a:ext cx="1069848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Source /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event</a:t>
            </a:r>
          </a:p>
        </p:txBody>
      </p:sp>
      <p:sp>
        <p:nvSpPr>
          <p:cNvPr id="13" name="table header"/>
          <p:cNvSpPr txBox="1"/>
          <p:nvPr/>
        </p:nvSpPr>
        <p:spPr>
          <a:xfrm>
            <a:off x="10030967" y="2107692"/>
            <a:ext cx="1618488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Magnitude / receipt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51392" y="2514600"/>
            <a:ext cx="283464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able row 1"/>
          <p:cNvSpPr txBox="1"/>
          <p:nvPr/>
        </p:nvSpPr>
        <p:spPr>
          <a:xfrm>
            <a:off x="8887967" y="2546604"/>
            <a:ext cx="1069848" cy="4617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UWB bias</a:t>
            </a:r>
          </a:p>
        </p:txBody>
      </p:sp>
      <p:sp>
        <p:nvSpPr>
          <p:cNvPr id="16" name="table row 1"/>
          <p:cNvSpPr txBox="1"/>
          <p:nvPr/>
        </p:nvSpPr>
        <p:spPr>
          <a:xfrm>
            <a:off x="10030967" y="2546604"/>
            <a:ext cx="1618488" cy="4617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+2.25 m / 3 epochs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51392" y="3017520"/>
            <a:ext cx="283464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able row 2"/>
          <p:cNvSpPr txBox="1"/>
          <p:nvPr/>
        </p:nvSpPr>
        <p:spPr>
          <a:xfrm>
            <a:off x="8887967" y="3049524"/>
            <a:ext cx="1069848" cy="4617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Raw accel</a:t>
            </a:r>
          </a:p>
        </p:txBody>
      </p:sp>
      <p:sp>
        <p:nvSpPr>
          <p:cNvPr id="19" name="table row 2"/>
          <p:cNvSpPr txBox="1"/>
          <p:nvPr/>
        </p:nvSpPr>
        <p:spPr>
          <a:xfrm>
            <a:off x="10030967" y="3049524"/>
            <a:ext cx="1618488" cy="4617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+20 m/s² / 500 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51392" y="3520439"/>
            <a:ext cx="283464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able row 3"/>
          <p:cNvSpPr txBox="1"/>
          <p:nvPr/>
        </p:nvSpPr>
        <p:spPr>
          <a:xfrm>
            <a:off x="8887967" y="3552444"/>
            <a:ext cx="1069848" cy="4617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First FD /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bridge</a:t>
            </a:r>
          </a:p>
        </p:txBody>
      </p:sp>
      <p:sp>
        <p:nvSpPr>
          <p:cNvPr id="22" name="table row 3"/>
          <p:cNvSpPr txBox="1"/>
          <p:nvPr/>
        </p:nvSpPr>
        <p:spPr>
          <a:xfrm>
            <a:off x="10030967" y="3552444"/>
            <a:ext cx="1618488" cy="4617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Epoch 121 / 121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51392" y="4023359"/>
            <a:ext cx="283464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able row 4"/>
          <p:cNvSpPr txBox="1"/>
          <p:nvPr/>
        </p:nvSpPr>
        <p:spPr>
          <a:xfrm>
            <a:off x="8887967" y="4055363"/>
            <a:ext cx="1069848" cy="4617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First rejoin4</a:t>
            </a:r>
          </a:p>
        </p:txBody>
      </p:sp>
      <p:sp>
        <p:nvSpPr>
          <p:cNvPr id="25" name="table row 4"/>
          <p:cNvSpPr txBox="1"/>
          <p:nvPr/>
        </p:nvSpPr>
        <p:spPr>
          <a:xfrm>
            <a:off x="10030967" y="4055363"/>
            <a:ext cx="1618488" cy="4617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Epochs 141–144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51392" y="4526279"/>
            <a:ext cx="283464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ault bands"/>
          <p:cNvSpPr txBox="1"/>
          <p:nvPr/>
        </p:nvSpPr>
        <p:spPr>
          <a:xfrm>
            <a:off x="8887968" y="4590288"/>
            <a:ext cx="27523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Burgundy: accel pulse.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Teal: UWB pulse.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Rejoined is a persistent state,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not an accuracy certificate.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E04 — Horizontal Stanford:</a:t>
            </a:r>
          </a:p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Conservative Bounds, Conditional Coverage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How do horizontal position errors relate to the emitted HPL?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77,131 qualified T-SIM receipts overall; observed H/V underbounds = 0; correlated samples ≠ risk trials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HPE is horizontal and HPL vertical; darker teal log-count bins have more timely samples, and points above dashed y=x are empirically covered. Gray bins are late (excluded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from timely availability); dotted lines mark research ALs (2/5/10 m), and zero correlated violations do not establish empirical 10^-6 risk.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Horizontal bounds cover the registered errors but remain much wider than the observed error.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E04; frozen solver 61907ab; T-SIM: conditional tag-position PL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8/15</a:t>
            </a:r>
          </a:p>
        </p:txBody>
      </p:sp>
      <p:pic>
        <p:nvPicPr>
          <p:cNvPr id="11" name="SC8 evidence s08_horizontal" descr="s08_horizontal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1938528"/>
            <a:ext cx="1115568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E04 — Vertical Stanford: Availability Depends on the Application AL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Why can a centimeter-level estimate still be unavailable?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Same estimates and PL: research AL (2,3) m gives 3.5–5.667%; (5,5) m gives 99.67–100%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VPE is horizontal and VPL vertical; darker teal bins contain more timely samples, gray bins are late, and bins above dashed y=x have VPL≥VPE. Dotted research ALs (3/5/10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m) test admissibility; the healthy AL comparison changes evaluation only, not estimates or PL, and is not certification.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PL tightness and application availability are distinct from estimator accuracy, especially vertically.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E04; frozen solver 61907ab; T-SIM: conditional tag-position PL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9/15</a:t>
            </a:r>
          </a:p>
        </p:txBody>
      </p:sp>
      <p:pic>
        <p:nvPicPr>
          <p:cNvPr id="11" name="SC8 evidence s09_vertical" descr="s09_vertical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938528"/>
            <a:ext cx="7818120" cy="3246120"/>
          </a:xfrm>
          <a:prstGeom prst="rect">
            <a:avLst/>
          </a:prstGeom>
        </p:spPr>
      </p:pic>
      <p:pic>
        <p:nvPicPr>
          <p:cNvPr id="12" name="SC8 evidence s09_availability" descr="s09_availability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8512" y="1975104"/>
            <a:ext cx="2971800" cy="1737360"/>
          </a:xfrm>
          <a:prstGeom prst="rect">
            <a:avLst/>
          </a:prstGeom>
        </p:spPr>
      </p:pic>
      <p:sp>
        <p:nvSpPr>
          <p:cNvPr id="13" name="table header"/>
          <p:cNvSpPr txBox="1"/>
          <p:nvPr/>
        </p:nvSpPr>
        <p:spPr>
          <a:xfrm>
            <a:off x="8558784" y="3753612"/>
            <a:ext cx="129844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HAL / VAL</a:t>
            </a:r>
          </a:p>
        </p:txBody>
      </p:sp>
      <p:sp>
        <p:nvSpPr>
          <p:cNvPr id="14" name="table header"/>
          <p:cNvSpPr txBox="1"/>
          <p:nvPr/>
        </p:nvSpPr>
        <p:spPr>
          <a:xfrm>
            <a:off x="9930384" y="3753612"/>
            <a:ext cx="175564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Joint timely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22208" y="4014216"/>
            <a:ext cx="320040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able row 1"/>
          <p:cNvSpPr txBox="1"/>
          <p:nvPr/>
        </p:nvSpPr>
        <p:spPr>
          <a:xfrm>
            <a:off x="8558784" y="4046220"/>
            <a:ext cx="1298448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2/3 m</a:t>
            </a:r>
          </a:p>
        </p:txBody>
      </p:sp>
      <p:sp>
        <p:nvSpPr>
          <p:cNvPr id="17" name="table row 1"/>
          <p:cNvSpPr txBox="1"/>
          <p:nvPr/>
        </p:nvSpPr>
        <p:spPr>
          <a:xfrm>
            <a:off x="9930384" y="4046220"/>
            <a:ext cx="1755648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3.5–5.667%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22208" y="4306824"/>
            <a:ext cx="320040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able row 2"/>
          <p:cNvSpPr txBox="1"/>
          <p:nvPr/>
        </p:nvSpPr>
        <p:spPr>
          <a:xfrm>
            <a:off x="8558784" y="4338828"/>
            <a:ext cx="1298448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5/5 m</a:t>
            </a:r>
          </a:p>
        </p:txBody>
      </p:sp>
      <p:sp>
        <p:nvSpPr>
          <p:cNvPr id="20" name="table row 2"/>
          <p:cNvSpPr txBox="1"/>
          <p:nvPr/>
        </p:nvSpPr>
        <p:spPr>
          <a:xfrm>
            <a:off x="9930384" y="4338828"/>
            <a:ext cx="1755648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99.67–100%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22208" y="4599432"/>
            <a:ext cx="320040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L denominator"/>
          <p:cNvSpPr txBox="1"/>
          <p:nvPr/>
        </p:nvSpPr>
        <p:spPr>
          <a:xfrm>
            <a:off x="8558784" y="4736592"/>
            <a:ext cx="310896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O-FULL; 3 independent seeds.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Denominator: all 600 epochs / seed.</a:t>
            </a:r>
          </a:p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No application certification.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E05 — 30 vs 1000 Epochs: When Is a Longer Window Worth It?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Does retaining much more history improve accuracy or integrity enough to justify the cost?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7 unique configurations × 2 streams; common epochs 1101–2100; default core study target = 40 ms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APE uses the same complete 1,000-epoch scoring interval; bubble area denotes sampled RSS, not process peak. LF, LI and recovery replay vary together in the coupled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sweep, so its fault benefit cannot be attributed to PL alone.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Keep 30/30 as the online reference; extend history only when measured recovery benefits justify cost.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E05; frozen solver 61907ab; T-SIM: conditional tag-position PL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10/15</a:t>
            </a:r>
          </a:p>
        </p:txBody>
      </p:sp>
      <p:pic>
        <p:nvPicPr>
          <p:cNvPr id="11" name="SC8 evidence s10_window" descr="s10_window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1938528"/>
            <a:ext cx="11155680" cy="2240280"/>
          </a:xfrm>
          <a:prstGeom prst="rect">
            <a:avLst/>
          </a:prstGeom>
        </p:spPr>
      </p:pic>
      <p:sp>
        <p:nvSpPr>
          <p:cNvPr id="12" name="table header"/>
          <p:cNvSpPr txBox="1"/>
          <p:nvPr/>
        </p:nvSpPr>
        <p:spPr>
          <a:xfrm>
            <a:off x="539496" y="4256532"/>
            <a:ext cx="3127248" cy="2285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Same common interval</a:t>
            </a:r>
          </a:p>
        </p:txBody>
      </p:sp>
      <p:sp>
        <p:nvSpPr>
          <p:cNvPr id="13" name="table header"/>
          <p:cNvSpPr txBox="1"/>
          <p:nvPr/>
        </p:nvSpPr>
        <p:spPr>
          <a:xfrm>
            <a:off x="3739896" y="4256532"/>
            <a:ext cx="1938528" cy="2285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30/30</a:t>
            </a:r>
          </a:p>
        </p:txBody>
      </p:sp>
      <p:sp>
        <p:nvSpPr>
          <p:cNvPr id="14" name="table header"/>
          <p:cNvSpPr txBox="1"/>
          <p:nvPr/>
        </p:nvSpPr>
        <p:spPr>
          <a:xfrm>
            <a:off x="5751576" y="4256532"/>
            <a:ext cx="1938528" cy="2285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1000/1000</a:t>
            </a:r>
          </a:p>
        </p:txBody>
      </p:sp>
      <p:sp>
        <p:nvSpPr>
          <p:cNvPr id="15" name="table header"/>
          <p:cNvSpPr txBox="1"/>
          <p:nvPr/>
        </p:nvSpPr>
        <p:spPr>
          <a:xfrm>
            <a:off x="7763256" y="4256532"/>
            <a:ext cx="3858768" cy="2285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Interpretation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4489704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able row 1"/>
          <p:cNvSpPr txBox="1"/>
          <p:nvPr/>
        </p:nvSpPr>
        <p:spPr>
          <a:xfrm>
            <a:off x="539496" y="4521708"/>
            <a:ext cx="3127248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Healthy APE (m)</a:t>
            </a:r>
          </a:p>
        </p:txBody>
      </p:sp>
      <p:sp>
        <p:nvSpPr>
          <p:cNvPr id="18" name="table row 1"/>
          <p:cNvSpPr txBox="1"/>
          <p:nvPr/>
        </p:nvSpPr>
        <p:spPr>
          <a:xfrm>
            <a:off x="3739896" y="4521708"/>
            <a:ext cx="1938528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0.04753682</a:t>
            </a:r>
          </a:p>
        </p:txBody>
      </p:sp>
      <p:sp>
        <p:nvSpPr>
          <p:cNvPr id="19" name="table row 1"/>
          <p:cNvSpPr txBox="1"/>
          <p:nvPr/>
        </p:nvSpPr>
        <p:spPr>
          <a:xfrm>
            <a:off x="5751576" y="4521708"/>
            <a:ext cx="1938528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0.04754147</a:t>
            </a:r>
          </a:p>
        </p:txBody>
      </p:sp>
      <p:sp>
        <p:nvSpPr>
          <p:cNvPr id="20" name="table row 1"/>
          <p:cNvSpPr txBox="1"/>
          <p:nvPr/>
        </p:nvSpPr>
        <p:spPr>
          <a:xfrm>
            <a:off x="7763256" y="4521708"/>
            <a:ext cx="3858768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No meaningful gain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4736592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able row 2"/>
          <p:cNvSpPr txBox="1"/>
          <p:nvPr/>
        </p:nvSpPr>
        <p:spPr>
          <a:xfrm>
            <a:off x="539496" y="4768596"/>
            <a:ext cx="3127248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Healthy core P95 (ms)</a:t>
            </a:r>
          </a:p>
        </p:txBody>
      </p:sp>
      <p:sp>
        <p:nvSpPr>
          <p:cNvPr id="23" name="table row 2"/>
          <p:cNvSpPr txBox="1"/>
          <p:nvPr/>
        </p:nvSpPr>
        <p:spPr>
          <a:xfrm>
            <a:off x="3739896" y="4768596"/>
            <a:ext cx="1938528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25.096</a:t>
            </a:r>
          </a:p>
        </p:txBody>
      </p:sp>
      <p:sp>
        <p:nvSpPr>
          <p:cNvPr id="24" name="table row 2"/>
          <p:cNvSpPr txBox="1"/>
          <p:nvPr/>
        </p:nvSpPr>
        <p:spPr>
          <a:xfrm>
            <a:off x="5751576" y="4768596"/>
            <a:ext cx="1938528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795.501</a:t>
            </a:r>
          </a:p>
        </p:txBody>
      </p:sp>
      <p:sp>
        <p:nvSpPr>
          <p:cNvPr id="25" name="table row 2"/>
          <p:cNvSpPr txBox="1"/>
          <p:nvPr/>
        </p:nvSpPr>
        <p:spPr>
          <a:xfrm>
            <a:off x="7763256" y="4768596"/>
            <a:ext cx="3858768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Higher measured cost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4983479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able row 3"/>
          <p:cNvSpPr txBox="1"/>
          <p:nvPr/>
        </p:nvSpPr>
        <p:spPr>
          <a:xfrm>
            <a:off x="539496" y="5015483"/>
            <a:ext cx="3127248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Fault APE (m)</a:t>
            </a:r>
          </a:p>
        </p:txBody>
      </p:sp>
      <p:sp>
        <p:nvSpPr>
          <p:cNvPr id="28" name="table row 3"/>
          <p:cNvSpPr txBox="1"/>
          <p:nvPr/>
        </p:nvSpPr>
        <p:spPr>
          <a:xfrm>
            <a:off x="3739896" y="5015483"/>
            <a:ext cx="1938528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0.10345833</a:t>
            </a:r>
          </a:p>
        </p:txBody>
      </p:sp>
      <p:sp>
        <p:nvSpPr>
          <p:cNvPr id="29" name="table row 3"/>
          <p:cNvSpPr txBox="1"/>
          <p:nvPr/>
        </p:nvSpPr>
        <p:spPr>
          <a:xfrm>
            <a:off x="5751576" y="5015483"/>
            <a:ext cx="1938528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0.05404642</a:t>
            </a:r>
          </a:p>
        </p:txBody>
      </p:sp>
      <p:sp>
        <p:nvSpPr>
          <p:cNvPr id="30" name="table row 3"/>
          <p:cNvSpPr txBox="1"/>
          <p:nvPr/>
        </p:nvSpPr>
        <p:spPr>
          <a:xfrm>
            <a:off x="7763256" y="5015483"/>
            <a:ext cx="3858768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Benefit in this stream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5230367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E06 — Runtime Breakdown: Fast Simulation, Expensive Real FDE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Where does the computation go, and which timing numbers are comparable?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Core P95 ≤40 ms + sink P95 ≤50 ms + timely spatial ≥95%; two E06 serial confirmations pass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Curves show measured whole-service latency; solid is core and dashed is sink, while stacked bars contain additive exclusive means. Stage P95s are not additive, and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SFUISE buffering/software-clock timing represents different capabilities.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The small-window simulated full path meets study P95 targets; current real engineering FDE does not.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E06; frozen solver 61907ab; conditional SIM / empirical REAL separated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11/15</a:t>
            </a:r>
          </a:p>
        </p:txBody>
      </p:sp>
      <p:pic>
        <p:nvPicPr>
          <p:cNvPr id="11" name="SC8 evidence s11_latency" descr="s11_latency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1920240"/>
            <a:ext cx="11155680" cy="2286000"/>
          </a:xfrm>
          <a:prstGeom prst="rect">
            <a:avLst/>
          </a:prstGeom>
        </p:spPr>
      </p:pic>
      <p:sp>
        <p:nvSpPr>
          <p:cNvPr id="12" name="table header"/>
          <p:cNvSpPr txBox="1"/>
          <p:nvPr/>
        </p:nvSpPr>
        <p:spPr>
          <a:xfrm>
            <a:off x="539496" y="4238244"/>
            <a:ext cx="312724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Run / capability</a:t>
            </a:r>
          </a:p>
        </p:txBody>
      </p:sp>
      <p:sp>
        <p:nvSpPr>
          <p:cNvPr id="13" name="table header"/>
          <p:cNvSpPr txBox="1"/>
          <p:nvPr/>
        </p:nvSpPr>
        <p:spPr>
          <a:xfrm>
            <a:off x="3739896" y="4238244"/>
            <a:ext cx="193852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Core P95 (ms)</a:t>
            </a:r>
          </a:p>
        </p:txBody>
      </p:sp>
      <p:sp>
        <p:nvSpPr>
          <p:cNvPr id="14" name="table header"/>
          <p:cNvSpPr txBox="1"/>
          <p:nvPr/>
        </p:nvSpPr>
        <p:spPr>
          <a:xfrm>
            <a:off x="5751576" y="4238244"/>
            <a:ext cx="193852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Sink P95 (ms)</a:t>
            </a:r>
          </a:p>
        </p:txBody>
      </p:sp>
      <p:sp>
        <p:nvSpPr>
          <p:cNvPr id="15" name="table header"/>
          <p:cNvSpPr txBox="1"/>
          <p:nvPr/>
        </p:nvSpPr>
        <p:spPr>
          <a:xfrm>
            <a:off x="7763256" y="4238244"/>
            <a:ext cx="3858768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6A9B"/>
                </a:solidFill>
                <a:latin typeface="Liberation Sans"/>
              </a:rPr>
              <a:t>Boundary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4416552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able row 1"/>
          <p:cNvSpPr txBox="1"/>
          <p:nvPr/>
        </p:nvSpPr>
        <p:spPr>
          <a:xfrm>
            <a:off x="539496" y="4448556"/>
            <a:ext cx="312724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E01 H / seed20 FULL</a:t>
            </a:r>
          </a:p>
        </p:txBody>
      </p:sp>
      <p:sp>
        <p:nvSpPr>
          <p:cNvPr id="18" name="table row 1"/>
          <p:cNvSpPr txBox="1"/>
          <p:nvPr/>
        </p:nvSpPr>
        <p:spPr>
          <a:xfrm>
            <a:off x="3739896" y="4448556"/>
            <a:ext cx="193852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23.726</a:t>
            </a:r>
          </a:p>
        </p:txBody>
      </p:sp>
      <p:sp>
        <p:nvSpPr>
          <p:cNvPr id="19" name="table row 1"/>
          <p:cNvSpPr txBox="1"/>
          <p:nvPr/>
        </p:nvSpPr>
        <p:spPr>
          <a:xfrm>
            <a:off x="5751576" y="4448556"/>
            <a:ext cx="193852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23.893</a:t>
            </a:r>
          </a:p>
        </p:txBody>
      </p:sp>
      <p:sp>
        <p:nvSpPr>
          <p:cNvPr id="20" name="table row 1"/>
          <p:cNvSpPr txBox="1"/>
          <p:nvPr/>
        </p:nvSpPr>
        <p:spPr>
          <a:xfrm>
            <a:off x="7763256" y="4448556"/>
            <a:ext cx="385876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Full service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4636008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able row 2"/>
          <p:cNvSpPr txBox="1"/>
          <p:nvPr/>
        </p:nvSpPr>
        <p:spPr>
          <a:xfrm>
            <a:off x="539496" y="4668012"/>
            <a:ext cx="312724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E06 J / seed20 FULL</a:t>
            </a:r>
          </a:p>
        </p:txBody>
      </p:sp>
      <p:sp>
        <p:nvSpPr>
          <p:cNvPr id="23" name="table row 2"/>
          <p:cNvSpPr txBox="1"/>
          <p:nvPr/>
        </p:nvSpPr>
        <p:spPr>
          <a:xfrm>
            <a:off x="3739896" y="4668012"/>
            <a:ext cx="193852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24.893</a:t>
            </a:r>
          </a:p>
        </p:txBody>
      </p:sp>
      <p:sp>
        <p:nvSpPr>
          <p:cNvPr id="24" name="table row 2"/>
          <p:cNvSpPr txBox="1"/>
          <p:nvPr/>
        </p:nvSpPr>
        <p:spPr>
          <a:xfrm>
            <a:off x="5751576" y="4668012"/>
            <a:ext cx="193852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25.162</a:t>
            </a:r>
          </a:p>
        </p:txBody>
      </p:sp>
      <p:sp>
        <p:nvSpPr>
          <p:cNvPr id="25" name="table row 2"/>
          <p:cNvSpPr txBox="1"/>
          <p:nvPr/>
        </p:nvSpPr>
        <p:spPr>
          <a:xfrm>
            <a:off x="7763256" y="4668012"/>
            <a:ext cx="385876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Full service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4855464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able row 3"/>
          <p:cNvSpPr txBox="1"/>
          <p:nvPr/>
        </p:nvSpPr>
        <p:spPr>
          <a:xfrm>
            <a:off x="539496" y="4887468"/>
            <a:ext cx="312724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E01 H / seed20 NOM</a:t>
            </a:r>
          </a:p>
        </p:txBody>
      </p:sp>
      <p:sp>
        <p:nvSpPr>
          <p:cNvPr id="28" name="table row 3"/>
          <p:cNvSpPr txBox="1"/>
          <p:nvPr/>
        </p:nvSpPr>
        <p:spPr>
          <a:xfrm>
            <a:off x="3739896" y="4887468"/>
            <a:ext cx="193852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2.100</a:t>
            </a:r>
          </a:p>
        </p:txBody>
      </p:sp>
      <p:sp>
        <p:nvSpPr>
          <p:cNvPr id="29" name="table row 3"/>
          <p:cNvSpPr txBox="1"/>
          <p:nvPr/>
        </p:nvSpPr>
        <p:spPr>
          <a:xfrm>
            <a:off x="5751576" y="4887468"/>
            <a:ext cx="193852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2.303</a:t>
            </a:r>
          </a:p>
        </p:txBody>
      </p:sp>
      <p:sp>
        <p:nvSpPr>
          <p:cNvPr id="30" name="table row 3"/>
          <p:cNvSpPr txBox="1"/>
          <p:nvPr/>
        </p:nvSpPr>
        <p:spPr>
          <a:xfrm>
            <a:off x="7763256" y="4887468"/>
            <a:ext cx="385876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Nominal only; no matched PL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5074920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able row 4"/>
          <p:cNvSpPr txBox="1"/>
          <p:nvPr/>
        </p:nvSpPr>
        <p:spPr>
          <a:xfrm>
            <a:off x="539496" y="5106924"/>
            <a:ext cx="312724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E02 real O-FDE-ENG</a:t>
            </a:r>
          </a:p>
        </p:txBody>
      </p:sp>
      <p:sp>
        <p:nvSpPr>
          <p:cNvPr id="33" name="table row 4"/>
          <p:cNvSpPr txBox="1"/>
          <p:nvPr/>
        </p:nvSpPr>
        <p:spPr>
          <a:xfrm>
            <a:off x="3739896" y="5106924"/>
            <a:ext cx="193852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up to 13099.0</a:t>
            </a:r>
          </a:p>
        </p:txBody>
      </p:sp>
      <p:sp>
        <p:nvSpPr>
          <p:cNvPr id="34" name="table row 4"/>
          <p:cNvSpPr txBox="1"/>
          <p:nvPr/>
        </p:nvSpPr>
        <p:spPr>
          <a:xfrm>
            <a:off x="5751576" y="5106924"/>
            <a:ext cx="193852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up to 1.14e+06</a:t>
            </a:r>
          </a:p>
        </p:txBody>
      </p:sp>
      <p:sp>
        <p:nvSpPr>
          <p:cNvPr id="35" name="table row 4"/>
          <p:cNvSpPr txBox="1"/>
          <p:nvPr/>
        </p:nvSpPr>
        <p:spPr>
          <a:xfrm>
            <a:off x="7763256" y="5106924"/>
            <a:ext cx="3858768" cy="1783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C34"/>
                </a:solidFill>
                <a:latin typeface="Liberation Sans"/>
              </a:rPr>
              <a:t>Measured prefix; 4/6 resource-limited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5294376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E07 — Ablations: Which Integrity Components Actually Matter?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Are rolling constraints and recovery logic causally necessary, or just complexity?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Removing support/joint constraints widens PL; the old G2 numerical candidate commits 0/80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Cells show actual values and signed changes from matched FULL; red means increase and blue means decrease. G2 has no qualified output, so APE/PL are NA; the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joint/sample0 switch also removes support and cannot isolate both effects.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Set constraints and geometry-aware numerical recovery have measurable effects; failures remain visible.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E07; frozen solver 61907ab; T-SIM: conditional tag-position PL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12/15</a:t>
            </a:r>
          </a:p>
        </p:txBody>
      </p:sp>
      <p:pic>
        <p:nvPicPr>
          <p:cNvPr id="11" name="SC8 evidence s12_ablation" descr="s12_ablation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938528"/>
            <a:ext cx="7406640" cy="3246120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8183879" y="2039112"/>
            <a:ext cx="3493008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8477"/>
                </a:solidFill>
                <a:latin typeface="Liberation Sans"/>
              </a:rPr>
              <a:t>M — same center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183879" y="2340864"/>
            <a:ext cx="3493008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C34"/>
                </a:solidFill>
                <a:latin typeface="Liberation Sans"/>
              </a:rPr>
              <a:t>Old/new PL at one committed tag center: a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C34"/>
                </a:solidFill>
                <a:latin typeface="Liberation Sans"/>
              </a:rPr>
              <a:t>tightening witness.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8183879" y="2898648"/>
            <a:ext cx="3493008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8477"/>
                </a:solidFill>
                <a:latin typeface="Liberation Sans"/>
              </a:rPr>
              <a:t>A — full trajectory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183879" y="3200400"/>
            <a:ext cx="3493008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C34"/>
                </a:solidFill>
                <a:latin typeface="Liberation Sans"/>
              </a:rPr>
              <a:t>Changing fault support can change the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C34"/>
                </a:solidFill>
                <a:latin typeface="Liberation Sans"/>
              </a:rPr>
              <a:t>subsequent state trajectory.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183879" y="3776472"/>
            <a:ext cx="3493008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8477"/>
                </a:solidFill>
                <a:latin typeface="Liberation Sans"/>
              </a:rPr>
              <a:t>P — performance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183879" y="4078224"/>
            <a:ext cx="3493008" cy="466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C34"/>
                </a:solidFill>
                <a:latin typeface="Liberation Sans"/>
              </a:rPr>
              <a:t>Whole-service measurements; do not sum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C34"/>
                </a:solidFill>
                <a:latin typeface="Liberation Sans"/>
              </a:rPr>
              <a:t>module percentiles.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183879" y="4617720"/>
            <a:ext cx="3493008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24F54"/>
                </a:solidFill>
                <a:latin typeface="Liberation Sans"/>
              </a:rPr>
              <a:t>G2: 0/80; epoch1 abort = 4.874 ms.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24F54"/>
                </a:solidFill>
                <a:latin typeface="Liberation Sans"/>
              </a:rPr>
              <a:t>APE / PL: NA; no common valid baseline.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24F54"/>
                </a:solidFill>
                <a:latin typeface="Liberation Sans"/>
              </a:rPr>
              <a:t>Joint + support is a combined switch.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E08 — Long-Run Integrity:</a:t>
            </a:r>
          </a:p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Healthy Complete, Repeated-Fault Case Censored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Does the full pipeline sustain 10,000 epochs and process the last injected fault?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All three processes exit SUCCESS; actual FULL L1 coverage is 7171/10000, not full completion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Curves stop at actual committed output; a blank FULL suffix is unprocessed data, not zero error. Vertical marks are scheduled faults, and the final episode beyond epoch 7171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was not verified by FULL.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Continuous recovery at scale is unproven: FULL stops where the no-FDE route continues.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E08; frozen solver 61907ab; T-SIM: conditional tag-position PL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13/15</a:t>
            </a:r>
          </a:p>
        </p:txBody>
      </p:sp>
      <p:pic>
        <p:nvPicPr>
          <p:cNvPr id="11" name="SC8 evidence s13_long" descr="s13_long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938528"/>
            <a:ext cx="8001000" cy="3246120"/>
          </a:xfrm>
          <a:prstGeom prst="rect">
            <a:avLst/>
          </a:prstGeom>
        </p:spPr>
      </p:pic>
      <p:sp>
        <p:nvSpPr>
          <p:cNvPr id="12" name="table header"/>
          <p:cNvSpPr txBox="1"/>
          <p:nvPr/>
        </p:nvSpPr>
        <p:spPr>
          <a:xfrm>
            <a:off x="8750807" y="2180844"/>
            <a:ext cx="859536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Run</a:t>
            </a:r>
          </a:p>
        </p:txBody>
      </p:sp>
      <p:sp>
        <p:nvSpPr>
          <p:cNvPr id="13" name="table header"/>
          <p:cNvSpPr txBox="1"/>
          <p:nvPr/>
        </p:nvSpPr>
        <p:spPr>
          <a:xfrm>
            <a:off x="9683495" y="2180844"/>
            <a:ext cx="1207007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Committed /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plan</a:t>
            </a:r>
          </a:p>
        </p:txBody>
      </p:sp>
      <p:sp>
        <p:nvSpPr>
          <p:cNvPr id="14" name="table header"/>
          <p:cNvSpPr txBox="1"/>
          <p:nvPr/>
        </p:nvSpPr>
        <p:spPr>
          <a:xfrm>
            <a:off x="10963655" y="2180844"/>
            <a:ext cx="731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Queue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6A9B"/>
                </a:solidFill>
                <a:latin typeface="Liberation Sans"/>
              </a:rPr>
              <a:t>peak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14232" y="2606040"/>
            <a:ext cx="3017519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able row 1"/>
          <p:cNvSpPr txBox="1"/>
          <p:nvPr/>
        </p:nvSpPr>
        <p:spPr>
          <a:xfrm>
            <a:off x="8750807" y="2638044"/>
            <a:ext cx="859536" cy="489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L0 FULL</a:t>
            </a:r>
          </a:p>
        </p:txBody>
      </p:sp>
      <p:sp>
        <p:nvSpPr>
          <p:cNvPr id="17" name="table row 1"/>
          <p:cNvSpPr txBox="1"/>
          <p:nvPr/>
        </p:nvSpPr>
        <p:spPr>
          <a:xfrm>
            <a:off x="9683495" y="2638044"/>
            <a:ext cx="1207007" cy="489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5000/5000</a:t>
            </a:r>
          </a:p>
        </p:txBody>
      </p:sp>
      <p:sp>
        <p:nvSpPr>
          <p:cNvPr id="18" name="table row 1"/>
          <p:cNvSpPr txBox="1"/>
          <p:nvPr/>
        </p:nvSpPr>
        <p:spPr>
          <a:xfrm>
            <a:off x="10963655" y="2638044"/>
            <a:ext cx="731520" cy="489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13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14232" y="3136392"/>
            <a:ext cx="3017519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able row 2"/>
          <p:cNvSpPr txBox="1"/>
          <p:nvPr/>
        </p:nvSpPr>
        <p:spPr>
          <a:xfrm>
            <a:off x="8750807" y="3168396"/>
            <a:ext cx="859536" cy="489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L1 FULL</a:t>
            </a:r>
          </a:p>
        </p:txBody>
      </p:sp>
      <p:sp>
        <p:nvSpPr>
          <p:cNvPr id="21" name="table row 2"/>
          <p:cNvSpPr txBox="1"/>
          <p:nvPr/>
        </p:nvSpPr>
        <p:spPr>
          <a:xfrm>
            <a:off x="9683495" y="3168396"/>
            <a:ext cx="1207007" cy="489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7171/10000</a:t>
            </a:r>
          </a:p>
        </p:txBody>
      </p:sp>
      <p:sp>
        <p:nvSpPr>
          <p:cNvPr id="22" name="table row 2"/>
          <p:cNvSpPr txBox="1"/>
          <p:nvPr/>
        </p:nvSpPr>
        <p:spPr>
          <a:xfrm>
            <a:off x="10963655" y="3168396"/>
            <a:ext cx="731520" cy="489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80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666744"/>
            <a:ext cx="3017519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able row 3"/>
          <p:cNvSpPr txBox="1"/>
          <p:nvPr/>
        </p:nvSpPr>
        <p:spPr>
          <a:xfrm>
            <a:off x="8750807" y="3698748"/>
            <a:ext cx="859536" cy="489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L1 NOFDE</a:t>
            </a:r>
          </a:p>
        </p:txBody>
      </p:sp>
      <p:sp>
        <p:nvSpPr>
          <p:cNvPr id="25" name="table row 3"/>
          <p:cNvSpPr txBox="1"/>
          <p:nvPr/>
        </p:nvSpPr>
        <p:spPr>
          <a:xfrm>
            <a:off x="9683495" y="3698748"/>
            <a:ext cx="1207007" cy="489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10000/10000</a:t>
            </a:r>
          </a:p>
        </p:txBody>
      </p:sp>
      <p:sp>
        <p:nvSpPr>
          <p:cNvPr id="26" name="table row 3"/>
          <p:cNvSpPr txBox="1"/>
          <p:nvPr/>
        </p:nvSpPr>
        <p:spPr>
          <a:xfrm>
            <a:off x="10963655" y="3698748"/>
            <a:ext cx="731520" cy="489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15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4232" y="4197096"/>
            <a:ext cx="3017519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ong-stream caveat"/>
          <p:cNvSpPr txBox="1"/>
          <p:nvPr/>
        </p:nvSpPr>
        <p:spPr>
          <a:xfrm>
            <a:off x="8750808" y="4526280"/>
            <a:ext cx="2935224" cy="694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FULL L1: 2,829 refused epochs.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The final scheduled fault is unverified.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Slots grow; bounded active window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02C34"/>
                </a:solidFill>
                <a:latin typeface="Liberation Sans"/>
              </a:rPr>
              <a:t>does not mean constant total memory.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Synthesis — What We Have Demonstrated, and What Remains Open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Which claims can we defend in a paper today?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Demonstrated: conditional method + measured simulation results; not hardware-qualified real integrity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Each row pairs a defensible claim with direct evidence and its limiting assumptions. Mathematical containment, empirical error, execution continuity and application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certification answer different questions.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The strongest current contribution is conditional rolling fault-aware position integrity; real execution remains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open.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Synthesis; frozen solver 61907ab; conditional SIM / empirical REAL separated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14/15</a:t>
            </a:r>
          </a:p>
        </p:txBody>
      </p:sp>
      <p:sp>
        <p:nvSpPr>
          <p:cNvPr id="11" name="table header"/>
          <p:cNvSpPr txBox="1"/>
          <p:nvPr/>
        </p:nvSpPr>
        <p:spPr>
          <a:xfrm>
            <a:off x="539496" y="2007108"/>
            <a:ext cx="331012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16A9B"/>
                </a:solidFill>
                <a:latin typeface="Liberation Sans"/>
              </a:rPr>
              <a:t>Defensible claim</a:t>
            </a:r>
          </a:p>
        </p:txBody>
      </p:sp>
      <p:sp>
        <p:nvSpPr>
          <p:cNvPr id="12" name="table header"/>
          <p:cNvSpPr txBox="1"/>
          <p:nvPr/>
        </p:nvSpPr>
        <p:spPr>
          <a:xfrm>
            <a:off x="3922776" y="2007108"/>
            <a:ext cx="358444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16A9B"/>
                </a:solidFill>
                <a:latin typeface="Liberation Sans"/>
              </a:rPr>
              <a:t>Direct SC8 evidence</a:t>
            </a:r>
          </a:p>
        </p:txBody>
      </p:sp>
      <p:sp>
        <p:nvSpPr>
          <p:cNvPr id="13" name="table header"/>
          <p:cNvSpPr txBox="1"/>
          <p:nvPr/>
        </p:nvSpPr>
        <p:spPr>
          <a:xfrm>
            <a:off x="7580375" y="2007108"/>
            <a:ext cx="404164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16A9B"/>
                </a:solidFill>
                <a:latin typeface="Liberation Sans"/>
              </a:rPr>
              <a:t>Boundary / not established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2340864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able row 1"/>
          <p:cNvSpPr txBox="1"/>
          <p:nvPr/>
        </p:nvSpPr>
        <p:spPr>
          <a:xfrm>
            <a:off x="539496" y="2372868"/>
            <a:ext cx="331012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Conditional rolling position PL</a:t>
            </a:r>
          </a:p>
        </p:txBody>
      </p:sp>
      <p:sp>
        <p:nvSpPr>
          <p:cNvPr id="16" name="table row 1"/>
          <p:cNvSpPr txBox="1"/>
          <p:nvPr/>
        </p:nvSpPr>
        <p:spPr>
          <a:xfrm>
            <a:off x="3922776" y="2372868"/>
            <a:ext cx="358444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77,131 qualified receipts; 0 observed</a:t>
            </a:r>
          </a:p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underbounds</a:t>
            </a:r>
          </a:p>
        </p:txBody>
      </p:sp>
      <p:sp>
        <p:nvSpPr>
          <p:cNvPr id="17" name="table row 1"/>
          <p:cNvSpPr txBox="1"/>
          <p:nvPr/>
        </p:nvSpPr>
        <p:spPr>
          <a:xfrm>
            <a:off x="7580375" y="2372868"/>
            <a:ext cx="404164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Registered source/noise/fault law only; correlated</a:t>
            </a:r>
          </a:p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observations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2862072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able row 2"/>
          <p:cNvSpPr txBox="1"/>
          <p:nvPr/>
        </p:nvSpPr>
        <p:spPr>
          <a:xfrm>
            <a:off x="539496" y="2894076"/>
            <a:ext cx="331012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Healthy tag positioning ≈5 cm</a:t>
            </a:r>
          </a:p>
        </p:txBody>
      </p:sp>
      <p:sp>
        <p:nvSpPr>
          <p:cNvPr id="20" name="table row 2"/>
          <p:cNvSpPr txBox="1"/>
          <p:nvPr/>
        </p:nvSpPr>
        <p:spPr>
          <a:xfrm>
            <a:off x="3922776" y="2894076"/>
            <a:ext cx="358444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3 fixed independent simulation seeds</a:t>
            </a:r>
          </a:p>
        </p:txBody>
      </p:sp>
      <p:sp>
        <p:nvSpPr>
          <p:cNvPr id="21" name="table row 2"/>
          <p:cNvSpPr txBox="1"/>
          <p:nvPr/>
        </p:nvSpPr>
        <p:spPr>
          <a:xfrm>
            <a:off x="7580375" y="2894076"/>
            <a:ext cx="404164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Different initialization information from SFUISE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3383279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able row 3"/>
          <p:cNvSpPr txBox="1"/>
          <p:nvPr/>
        </p:nvSpPr>
        <p:spPr>
          <a:xfrm>
            <a:off x="539496" y="3415284"/>
            <a:ext cx="331012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FDE benefit is fault-specific</a:t>
            </a:r>
          </a:p>
        </p:txBody>
      </p:sp>
      <p:sp>
        <p:nvSpPr>
          <p:cNvPr id="24" name="table row 3"/>
          <p:cNvSpPr txBox="1"/>
          <p:nvPr/>
        </p:nvSpPr>
        <p:spPr>
          <a:xfrm>
            <a:off x="3922776" y="3415284"/>
            <a:ext cx="358444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Accel/joint position gains; gyro regression</a:t>
            </a:r>
          </a:p>
        </p:txBody>
      </p:sp>
      <p:sp>
        <p:nvSpPr>
          <p:cNvPr id="25" name="table row 3"/>
          <p:cNvSpPr txBox="1"/>
          <p:nvPr/>
        </p:nvSpPr>
        <p:spPr>
          <a:xfrm>
            <a:off x="7580375" y="3415284"/>
            <a:ext cx="404164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Attitude / late recovery can deteriorate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3904487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able row 4"/>
          <p:cNvSpPr txBox="1"/>
          <p:nvPr/>
        </p:nvSpPr>
        <p:spPr>
          <a:xfrm>
            <a:off x="539496" y="3936491"/>
            <a:ext cx="331012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Real comparison remains incomplete</a:t>
            </a:r>
          </a:p>
        </p:txBody>
      </p:sp>
      <p:sp>
        <p:nvSpPr>
          <p:cNvPr id="28" name="table row 4"/>
          <p:cNvSpPr txBox="1"/>
          <p:nvPr/>
        </p:nvSpPr>
        <p:spPr>
          <a:xfrm>
            <a:off x="3922776" y="3936491"/>
            <a:ext cx="358444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Walk/STAR interface gaps; real FDE censoring</a:t>
            </a:r>
          </a:p>
        </p:txBody>
      </p:sp>
      <p:sp>
        <p:nvSpPr>
          <p:cNvPr id="29" name="table row 4"/>
          <p:cNvSpPr txBox="1"/>
          <p:nvPr/>
        </p:nvSpPr>
        <p:spPr>
          <a:xfrm>
            <a:off x="7580375" y="3936491"/>
            <a:ext cx="404164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Engineering empirical results; no raw real</a:t>
            </a:r>
          </a:p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qualification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4425696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able row 5"/>
          <p:cNvSpPr txBox="1"/>
          <p:nvPr/>
        </p:nvSpPr>
        <p:spPr>
          <a:xfrm>
            <a:off x="539496" y="4457700"/>
            <a:ext cx="331012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Default small window justified</a:t>
            </a:r>
          </a:p>
        </p:txBody>
      </p:sp>
      <p:sp>
        <p:nvSpPr>
          <p:cNvPr id="32" name="table row 5"/>
          <p:cNvSpPr txBox="1"/>
          <p:nvPr/>
        </p:nvSpPr>
        <p:spPr>
          <a:xfrm>
            <a:off x="3922776" y="4457700"/>
            <a:ext cx="358444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25.096 → 795.501 ms healthy core P95</a:t>
            </a:r>
          </a:p>
        </p:txBody>
      </p:sp>
      <p:sp>
        <p:nvSpPr>
          <p:cNvPr id="33" name="table row 5"/>
          <p:cNvSpPr txBox="1"/>
          <p:nvPr/>
        </p:nvSpPr>
        <p:spPr>
          <a:xfrm>
            <a:off x="7580375" y="4457700"/>
            <a:ext cx="4041648" cy="480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Longer lag helps this fault stream; not generally</a:t>
            </a:r>
          </a:p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02C34"/>
                </a:solidFill>
                <a:latin typeface="Liberation Sans"/>
              </a:rPr>
              <a:t>real-time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4946904"/>
            <a:ext cx="11155680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maining gaps"/>
          <p:cNvSpPr txBox="1"/>
          <p:nvPr/>
        </p:nvSpPr>
        <p:spPr>
          <a:xfrm>
            <a:off x="539496" y="5047488"/>
            <a:ext cx="1106424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58B91"/>
                </a:solidFill>
                <a:latin typeface="Liberation Sans"/>
              </a:rPr>
              <a:t>Additional gaps: SFUISE velocity/bias export; invalid history prefix; weak-UWB and S1/S2 studies omitted.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C34"/>
                </a:solidFill>
                <a:latin typeface="Liberation Sans"/>
              </a:rPr>
              <a:t>Questions for the Advisor — Decisions Needed Before the Next Study</a:t>
            </a:r>
          </a:p>
        </p:txBody>
      </p:sp>
      <p:sp>
        <p:nvSpPr>
          <p:cNvPr id="3" name="research question"/>
          <p:cNvSpPr txBox="1"/>
          <p:nvPr/>
        </p:nvSpPr>
        <p:spPr>
          <a:xfrm>
            <a:off x="457200" y="1097280"/>
            <a:ext cx="1127455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2636E"/>
                </a:solidFill>
                <a:latin typeface="Liberation Sans"/>
              </a:rPr>
              <a:t>Which scope, resources and priorities should guide the next study?</a:t>
            </a:r>
          </a:p>
        </p:txBody>
      </p:sp>
      <p:sp>
        <p:nvSpPr>
          <p:cNvPr id="4" name="evidence headline"/>
          <p:cNvSpPr txBox="1"/>
          <p:nvPr/>
        </p:nvSpPr>
        <p:spPr>
          <a:xfrm>
            <a:off x="457200" y="1517904"/>
            <a:ext cx="1127455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16A9B"/>
                </a:solidFill>
                <a:latin typeface="Liberation Sans"/>
              </a:rPr>
              <a:t>Proposed next action: close independent calibration → stabilize real FDE → limited newly frozen rerun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828800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vidence caption"/>
          <p:cNvSpPr txBox="1"/>
          <p:nvPr/>
        </p:nvSpPr>
        <p:spPr>
          <a:xfrm>
            <a:off x="457200" y="5349240"/>
            <a:ext cx="11274552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The four questions request concrete decisions on scope, calibration resources, recovery priorities and application requirements. The next protocol should follow those</a:t>
            </a:r>
          </a:p>
          <a:p>
            <a:pPr>
              <a:lnSpc>
                <a:spcPts val="1288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535C"/>
                </a:solidFill>
                <a:latin typeface="Liberation Sans"/>
              </a:rPr>
              <a:t>decisions before a limited, newly frozen rerun.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925312"/>
            <a:ext cx="11274552" cy="0"/>
          </a:xfrm>
          <a:prstGeom prst="line">
            <a:avLst/>
          </a:prstGeom>
          <a:ln w="12700">
            <a:solidFill>
              <a:srgbClr val="CE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akeaway"/>
          <p:cNvSpPr txBox="1"/>
          <p:nvPr/>
        </p:nvSpPr>
        <p:spPr>
          <a:xfrm>
            <a:off x="457200" y="6025896"/>
            <a:ext cx="11274552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02C34"/>
                </a:solidFill>
                <a:latin typeface="Liberation Sans"/>
              </a:rPr>
              <a:t>Takeaway: Requested outcome: agree on the paper scope, calibration resource owner and research priority order.</a:t>
            </a:r>
          </a:p>
        </p:txBody>
      </p:sp>
      <p:sp>
        <p:nvSpPr>
          <p:cNvPr id="9" name="source footer"/>
          <p:cNvSpPr txBox="1"/>
          <p:nvPr/>
        </p:nvSpPr>
        <p:spPr>
          <a:xfrm>
            <a:off x="457200" y="6574536"/>
            <a:ext cx="10515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58B91"/>
                </a:solidFill>
                <a:latin typeface="Liberation Sans"/>
              </a:rPr>
              <a:t>Source: SC8_RESULTS, Decisions; frozen solver 61907ab; conditional SIM / empirical REAL separated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11073384" y="6556248"/>
            <a:ext cx="658368" cy="19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58B91"/>
                </a:solidFill>
                <a:latin typeface="Liberation Sans"/>
              </a:rPr>
              <a:t>15/15</a:t>
            </a:r>
          </a:p>
        </p:txBody>
      </p:sp>
      <p:sp>
        <p:nvSpPr>
          <p:cNvPr id="11" name="advisor question heading"/>
          <p:cNvSpPr txBox="1"/>
          <p:nvPr/>
        </p:nvSpPr>
        <p:spPr>
          <a:xfrm>
            <a:off x="502920" y="2011680"/>
            <a:ext cx="54589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6A9B"/>
                </a:solidFill>
                <a:latin typeface="Liberation Sans"/>
              </a:rPr>
              <a:t>1. Publication scope</a:t>
            </a:r>
          </a:p>
        </p:txBody>
      </p:sp>
      <p:sp>
        <p:nvSpPr>
          <p:cNvPr id="12" name="advisor question"/>
          <p:cNvSpPr txBox="1"/>
          <p:nvPr/>
        </p:nvSpPr>
        <p:spPr>
          <a:xfrm>
            <a:off x="502920" y="2331720"/>
            <a:ext cx="5458968" cy="877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Should the near-term paper focus on the conditional rolling raw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position PL + joint FDE architecture, with honest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execution/real-data limitations, or is physically qualified real-data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integrity required before submission?</a:t>
            </a:r>
          </a:p>
        </p:txBody>
      </p:sp>
      <p:sp>
        <p:nvSpPr>
          <p:cNvPr id="13" name="requested decision"/>
          <p:cNvSpPr txBox="1"/>
          <p:nvPr/>
        </p:nvSpPr>
        <p:spPr>
          <a:xfrm>
            <a:off x="502920" y="3255264"/>
            <a:ext cx="545896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8477"/>
                </a:solidFill>
                <a:latin typeface="Liberation Sans"/>
              </a:rPr>
              <a:t>Decision: theory + qualified simulation first, or hardware validation first.</a:t>
            </a:r>
          </a:p>
        </p:txBody>
      </p:sp>
      <p:sp>
        <p:nvSpPr>
          <p:cNvPr id="14" name="advisor question heading"/>
          <p:cNvSpPr txBox="1"/>
          <p:nvPr/>
        </p:nvSpPr>
        <p:spPr>
          <a:xfrm>
            <a:off x="6199632" y="2011680"/>
            <a:ext cx="54589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6A9B"/>
                </a:solidFill>
                <a:latin typeface="Liberation Sans"/>
              </a:rPr>
              <a:t>2. Independent calibration resources</a:t>
            </a:r>
          </a:p>
        </p:txBody>
      </p:sp>
      <p:sp>
        <p:nvSpPr>
          <p:cNvPr id="15" name="advisor question"/>
          <p:cNvSpPr txBox="1"/>
          <p:nvPr/>
        </p:nvSpPr>
        <p:spPr>
          <a:xfrm>
            <a:off x="6199632" y="2331720"/>
            <a:ext cx="5458968" cy="877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Can we obtain independent tracker↔IMU/body↔tag 6-DoF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extrinsics, timing and anchor-world references, or collect a new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calibration sequence with three-axis motion and independent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held-out TEST?</a:t>
            </a:r>
          </a:p>
        </p:txBody>
      </p:sp>
      <p:sp>
        <p:nvSpPr>
          <p:cNvPr id="16" name="requested decision"/>
          <p:cNvSpPr txBox="1"/>
          <p:nvPr/>
        </p:nvSpPr>
        <p:spPr>
          <a:xfrm>
            <a:off x="6199632" y="3255264"/>
            <a:ext cx="545896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8477"/>
                </a:solidFill>
                <a:latin typeface="Liberation Sans"/>
              </a:rPr>
              <a:t>Decision: identify the hardware/protocol owner and available sensors.</a:t>
            </a:r>
          </a:p>
        </p:txBody>
      </p:sp>
      <p:sp>
        <p:nvSpPr>
          <p:cNvPr id="17" name="advisor question heading"/>
          <p:cNvSpPr txBox="1"/>
          <p:nvPr/>
        </p:nvSpPr>
        <p:spPr>
          <a:xfrm>
            <a:off x="502920" y="3630168"/>
            <a:ext cx="54589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6A9B"/>
                </a:solidFill>
                <a:latin typeface="Liberation Sans"/>
              </a:rPr>
              <a:t>3. State recovery or execution continuity</a:t>
            </a:r>
          </a:p>
        </p:txBody>
      </p:sp>
      <p:sp>
        <p:nvSpPr>
          <p:cNvPr id="18" name="advisor question"/>
          <p:cNvSpPr txBox="1"/>
          <p:nvPr/>
        </p:nvSpPr>
        <p:spPr>
          <a:xfrm>
            <a:off x="502920" y="3950208"/>
            <a:ext cx="5458968" cy="877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Should we prioritize explaining and fixing gyro-induced attitude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degradation / long-term state recovery, or first make engineering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FDE process complete real recordings within a bounded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resource budget?</a:t>
            </a:r>
          </a:p>
        </p:txBody>
      </p:sp>
      <p:sp>
        <p:nvSpPr>
          <p:cNvPr id="19" name="requested decision"/>
          <p:cNvSpPr txBox="1"/>
          <p:nvPr/>
        </p:nvSpPr>
        <p:spPr>
          <a:xfrm>
            <a:off x="502920" y="4873752"/>
            <a:ext cx="545896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8477"/>
                </a:solidFill>
                <a:latin typeface="Liberation Sans"/>
              </a:rPr>
              <a:t>Decision: algorithmic research priority or engineering qualification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8477"/>
                </a:solidFill>
                <a:latin typeface="Liberation Sans"/>
              </a:rPr>
              <a:t>priority.</a:t>
            </a:r>
          </a:p>
        </p:txBody>
      </p:sp>
      <p:sp>
        <p:nvSpPr>
          <p:cNvPr id="20" name="advisor question heading"/>
          <p:cNvSpPr txBox="1"/>
          <p:nvPr/>
        </p:nvSpPr>
        <p:spPr>
          <a:xfrm>
            <a:off x="6199632" y="3630168"/>
            <a:ext cx="54589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6A9B"/>
                </a:solidFill>
                <a:latin typeface="Liberation Sans"/>
              </a:rPr>
              <a:t>4. Application integrity requirements</a:t>
            </a:r>
          </a:p>
        </p:txBody>
      </p:sp>
      <p:sp>
        <p:nvSpPr>
          <p:cNvPr id="21" name="advisor question"/>
          <p:cNvSpPr txBox="1"/>
          <p:nvPr/>
        </p:nvSpPr>
        <p:spPr>
          <a:xfrm>
            <a:off x="6199632" y="3950208"/>
            <a:ext cx="5458968" cy="877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For the intended deployment, what HAL / VAL, TTA, covered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fault classes and failure action should determine meaningful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2C34"/>
                </a:solidFill>
                <a:latin typeface="Liberation Sans"/>
              </a:rPr>
              <a:t>protected availability?</a:t>
            </a:r>
          </a:p>
        </p:txBody>
      </p:sp>
      <p:sp>
        <p:nvSpPr>
          <p:cNvPr id="22" name="requested decision"/>
          <p:cNvSpPr txBox="1"/>
          <p:nvPr/>
        </p:nvSpPr>
        <p:spPr>
          <a:xfrm>
            <a:off x="6199632" y="4873752"/>
            <a:ext cx="545896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48477"/>
                </a:solidFill>
                <a:latin typeface="Liberation Sans"/>
              </a:rPr>
              <a:t>Decision: target application and first defensible safety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SC8 Advisor Progress: Conditional Rolling Position Integrity</dc:title>
  <dc:subject>15-slide evidence-based advisor discussion; frozen solver 61907ab</dc:subject>
  <dc:creator>UWB–IMU Fusion Research</dc:creator>
  <cp:keywords>SC8, UWB, IMU, FGO, FDE, conditional integrity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